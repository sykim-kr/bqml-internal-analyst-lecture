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43000"/>
            <a:ext cx="10424160" cy="9144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3800" b="1">
                <a:solidFill>
                  <a:srgbClr val="FFFFFF"/>
                </a:solidFill>
                <a:latin typeface="Arial"/>
              </a:rPr>
              <a:t>BigQuery ML for Internal Analysts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423160"/>
            <a:ext cx="9875520" cy="73152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400" b="0">
                <a:solidFill>
                  <a:srgbClr val="FFFFFF"/>
                </a:solidFill>
                <a:latin typeface="Arial"/>
              </a:rPr>
              <a:t>SQL로 예측 모델 만들고, 평가하고, 액션으로 연결하기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440680"/>
            <a:ext cx="3840480" cy="36576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300" b="0">
                <a:solidFill>
                  <a:srgbClr val="FFFFFF"/>
                </a:solidFill>
                <a:latin typeface="Arial"/>
              </a:rPr>
              <a:t>OCEO · Internal Analyst Training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5303520"/>
            <a:ext cx="27432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600" b="1">
                <a:solidFill>
                  <a:srgbClr val="0B2D5B"/>
                </a:solidFill>
                <a:latin typeface="Arial"/>
              </a:rPr>
              <a:t>v5 · polished PPT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SQL로 예측 모델 만들고, 평가하고, 액션으로 연결하기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5175504" cy="4526280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# BigQuery ML for Internal Analysts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17336" y="1325880"/>
            <a:ext cx="5175504" cy="4526280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OCEO · Internal Analyst Training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오늘의 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4160520" cy="48006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Arial"/>
              </a:rPr>
              <a:t>읽는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70332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074920" y="1234440"/>
            <a:ext cx="630936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rmAutofit/>
          </a:bodyPr>
          <a:lstStyle/>
          <a:p>
            <a:pPr algn="ctr"/>
            <a:r>
              <a:rPr sz="1000" b="0">
                <a:solidFill>
                  <a:srgbClr val="E5E7EB"/>
                </a:solidFill>
                <a:latin typeface="Arial"/>
              </a:rPr>
              <a:t>BQML의 기본 흐름 이해: CREATE MODEL → ML.EVALUATE → ML.PREDICT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회귀/분류/클러스터링/시계열 질문 구분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예측 결과를 “액션 우선순위”로 해석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BigQuery Console에서 실제 demo table/model/result 확인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BQML 한 줄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5175504" cy="2180844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&gt; BQML은 SQL을 아는 분석가가 BigQuery 안에서 머신러닝 기반 질문을 빠르게 실험하고, 액션 우선순위로 연결하는 방법이다.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17336" y="1325880"/>
            <a:ext cx="5175504" cy="2180844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Visual: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71316"/>
            <a:ext cx="5175504" cy="2180844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BigQuery table → SQL → BQML model → result table → 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BQML 기본 3단계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5175504" cy="2180844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1. CREATE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17336" y="1325880"/>
            <a:ext cx="5175504" cy="2180844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2. ML.EVALUATE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71316"/>
            <a:ext cx="5175504" cy="2180844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3. ML.PREDICT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57400"/>
            <a:ext cx="10241280" cy="96012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ctr"/>
            <a:r>
              <a:rPr sz="3300" b="1">
                <a:solidFill>
                  <a:srgbClr val="FFFFFF"/>
                </a:solidFill>
                <a:latin typeface="Arial"/>
              </a:rPr>
              <a:t>Section 1. 첫 번째 예시 — 게임 데이터 매출 예측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94560" y="3337560"/>
            <a:ext cx="77724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0B2D5B"/>
                </a:solidFill>
                <a:latin typeface="Arial"/>
              </a:rPr>
              <a:t>BQML 흐름 안에서 원본 사례를 새 강의자료 스타일로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왜 게임 데이터부터 보는가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5166360" cy="4983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Key message: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feature가 직관적이다.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게임시간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로그인횟수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달성레벨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43000"/>
            <a:ext cx="5166360" cy="4983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target이 명확하다.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예상매출액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모델 유형이 쉽다.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LINEAR_REG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“얼마나 클 것인가?”를 예측하는 가장 단순한 회귀 예제.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Game sample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5166360" cy="4983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Columns: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Data profile: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Modeling note: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Visual: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user_id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game_time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43000"/>
            <a:ext cx="5166360" cy="4983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login_count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level_achieved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purchase_amount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rank_value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1,000 rows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game_time: 57 ~ 370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분석 질문을 ML 문제로 바꾸기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561320" cy="48006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• Business question: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ML framing: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게임 행동 데이터로 예상 매출액을 예측할 수 있을까?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Model type: LINEAR_REG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Features: game_time, login_count, level_achieved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Excluded context column: rank_value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Label: purchase_amount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Holdout example: user_id = 156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Query 1 — CREATE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4160520" cy="48006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Arial"/>
              </a:rPr>
              <a:t>읽는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70332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074920" y="1234440"/>
            <a:ext cx="630936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rmAutofit/>
          </a:bodyPr>
          <a:lstStyle/>
          <a:p>
            <a:pPr algn="ctr"/>
            <a:r>
              <a:rPr sz="1000" b="0">
                <a:solidFill>
                  <a:srgbClr val="E5E7EB"/>
                </a:solidFill>
                <a:latin typeface="Arial"/>
              </a:rPr>
              <a:t>CREATE OR REPLACE MODEL `...bqml_course_game_revenue_model_v0`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OPTIONS(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model_type = 'LINEAR_REG',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input_label_cols = ['purchase_amount'],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data_split_method = 'NO_SPLIT'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) AS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SELECT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game_time,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login_count,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level_achieved,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purchase_amount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FROM `...bqml_course_game_data`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WHERE user_id != 156;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Query 2 — ML.EVALUATE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4160520" cy="48006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Arial"/>
              </a:rPr>
              <a:t>읽는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70332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Metrics: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mean_absolute_error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mean_squared_error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median_absolute_error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r2_score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explained_variance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234440"/>
            <a:ext cx="630936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rmAutofit/>
          </a:bodyPr>
          <a:lstStyle/>
          <a:p>
            <a:pPr algn="ctr"/>
            <a:r>
              <a:rPr sz="1000" b="0">
                <a:solidFill>
                  <a:srgbClr val="E5E7EB"/>
                </a:solidFill>
                <a:latin typeface="Arial"/>
              </a:rPr>
              <a:t>SELECT *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FROM ML.EVALUATE(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MODEL `...bqml_course_game_revenue_model_v0`,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TABLE eval_table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Big query ML Ex – Evaluate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515600" cy="4983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예측 성공 여부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구매 여부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True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Positive (구매=O)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False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Negative (구매=x)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TP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구매할 것을 예측 성공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늑대가 나타날 것이다라고 외침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양성을 양성으로 판정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스팸 예측 성공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FP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구매할 거라 예측했는데, 예측 실패 (구매 안함)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늑대다라고 외쳤는데, 안나타남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음성을 양성으로 판정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스팸 아닌데 스팸이라 함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FN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구매 안할거라 예측했는데, 예측 실패 (구매 함)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늑대 안 온다고 예측했는데, 예측 실패 (늑대 오는데 안 온다고 함)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양성을 음성으로 판정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스팸인데, 스팸 아닌 걸로 판정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TN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구매안할 거라 예측했는데, 실제로도 구매 안함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늑대 안 온다고 하고, 실제로도 늑대 안홈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음성을 음성으로 판정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스팸 아닌 건 스팸 아닌 걸로 분류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Big query ML Ex – Evaluate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515600" cy="4983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N=100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TP (구매O,예측성공)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FP (구매X,예측실패)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FN(구매O,예측실패)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TN(구매X,예측성공)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accuracy — 정확도는 분류 모델이 바르게 된 예측의 비율입니다.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(예측 성공 비율 = (TP+TN)/N=90%)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precision — 분류 모델의 통계입니다. 정밀도는 모델이 포지티브 클래스를 정확히 예측한 빈도를 나타냅니다.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(구매할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것이다라는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걸 정확히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짚어냄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. 구매 예측 성공 비율(TP/N)=75%)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recall — '가능한 모든 포지티브 라벨 중에서 모델이 정확히 몇 개를 식별했을까'라는 질문의 답변을 제공하는 분류 모델의 통계입니다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.(구매가 O인 경우 중 예측 성공한 경우, TP/TP+FN=75/80=93.8%)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f1_score — 모델 정확도를 나타내는 척도입니다. f1 점수는 정밀도와 재현율의 조화 평균입니다. f1 점수는 1이 가장 좋은 값입니다. 가장 나쁜 값은 0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입니다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.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log_loss — 로지스틱 회귀에 사용된 손실 함수입니다. 모델 예측이 올바른 라벨과 얼마나 차이가 나는지를 나타내는 척도입니다.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roc_auc — AUC(ROC 곡선 아래 영역)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입니다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. 이것은 분류 기준에서 임의로 선택한 양의 예가 실제로 양수인 것이 임의로 선택한 음의 예가 양수인 것보다 더 확실할 확률입니다. 자세한 내용은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머신러닝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단기집중과정의 분류를 참조하세요.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모델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5175504" cy="4526280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the mean absolute error is an average of the absolute errors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17336" y="1325880"/>
            <a:ext cx="5175504" cy="4526280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실측치(Observation)와 예측치(Prediction)간의 차이 절대값의 평균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모델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4572000" cy="4114800"/>
          </a:xfrm>
          <a:prstGeom prst="round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mean squared error</a:t>
            </a:r>
            <a:br/>
            <a:br/>
            <a:r>
              <a:rPr sz="3000" b="1">
                <a:solidFill>
                  <a:srgbClr val="FFFFFF"/>
                </a:solidFill>
                <a:latin typeface="Arial"/>
              </a:rPr>
              <a:t>MSE</a:t>
            </a:r>
            <a:br/>
            <a:br/>
            <a:r>
              <a:rPr sz="3000" b="1">
                <a:solidFill>
                  <a:srgbClr val="FFFFFF"/>
                </a:solidFill>
                <a:latin typeface="Arial"/>
              </a:rPr>
              <a:t>예측 오차를 제곱해서 평균낸 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1417320"/>
            <a:ext cx="539496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100" b="0">
                <a:solidFill>
                  <a:srgbClr val="212529"/>
                </a:solidFill>
                <a:latin typeface="Arial"/>
              </a:rPr>
              <a:t>원문 키워드: mean squared error (MSE)</a:t>
            </a:r>
            <a:br/>
            <a:br/>
            <a:r>
              <a:rPr sz="2100" b="0">
                <a:solidFill>
                  <a:srgbClr val="212529"/>
                </a:solidFill>
                <a:latin typeface="Arial"/>
              </a:rPr>
              <a:t>• 오차가 큰 예측에 더 큰 패널티를 줍니다.</a:t>
            </a:r>
            <a:br/>
            <a:r>
              <a:rPr sz="2100" b="0">
                <a:solidFill>
                  <a:srgbClr val="212529"/>
                </a:solidFill>
                <a:latin typeface="Arial"/>
              </a:rPr>
              <a:t>• 회귀 모델에서는 MAE와 함께 예측 오차 크기를 보는 핵심 지표입니다.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모델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5175504" cy="2180844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실제 관측 값과 예측 값 간의 상관 계수를 구한 다음 제곱해서 구함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17336" y="1325880"/>
            <a:ext cx="5175504" cy="2180844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SSR = (예측값 - 평균)²의 합계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71316"/>
            <a:ext cx="5175504" cy="2180844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SSE = (관측값 - 예측값)²의 합계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17336" y="3671316"/>
            <a:ext cx="5175504" cy="2180844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SST = SSR + SSE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Query 3 — ML.PREDICT for user 156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4160520" cy="48006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Arial"/>
              </a:rPr>
              <a:t>읽는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70332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Visual: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actual vs predicted comparison 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234440"/>
            <a:ext cx="630936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rmAutofit/>
          </a:bodyPr>
          <a:lstStyle/>
          <a:p>
            <a:pPr algn="ctr"/>
            <a:r>
              <a:rPr sz="1000" b="0">
                <a:solidFill>
                  <a:srgbClr val="E5E7EB"/>
                </a:solidFill>
                <a:latin typeface="Arial"/>
              </a:rPr>
              <a:t>SELECT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truth.user_id,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truth.purchase_amount AS actual_purchase_amount,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predictions.predicted_purchase_amount,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ABS(truth.purchase_amount - predictions.predicted_purchase_amount) AS absolute_error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FROM game_to_predict AS truth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JOIN predictions USING (user_id);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Game demo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4160520" cy="48006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Arial"/>
              </a:rPr>
              <a:t>읽는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70332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074920" y="1234440"/>
            <a:ext cx="630936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rmAutofit/>
          </a:bodyPr>
          <a:lstStyle/>
          <a:p>
            <a:pPr algn="ctr"/>
            <a:r>
              <a:rPr sz="1000" b="0">
                <a:solidFill>
                  <a:srgbClr val="E5E7EB"/>
                </a:solidFill>
                <a:latin typeface="Arial"/>
              </a:rPr>
              <a:t>CREATE MODEL: 모델 생성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ML.EVALUATE: 성능 확인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ML.PREDICT: 예측값 생성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회귀 모델은 “얼마나 클 것인가?”를 예측한다.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다음 단계에서는 “누구에게 액션할 것인가?”를 분류 모델로 본다.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57400"/>
            <a:ext cx="10241280" cy="96012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ctr"/>
            <a:r>
              <a:rPr sz="3300" b="1">
                <a:solidFill>
                  <a:srgbClr val="FFFFFF"/>
                </a:solidFill>
                <a:latin typeface="Arial"/>
              </a:rPr>
              <a:t>Section 2. BQML 사고방식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94560" y="3337560"/>
            <a:ext cx="77724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0B2D5B"/>
                </a:solidFill>
                <a:latin typeface="Arial"/>
              </a:rPr>
              <a:t>BQML 흐름 안에서 원본 사례를 새 강의자료 스타일로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비즈니스 질문 → ML 문제 유형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5175504" cy="2180844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다음 30일 매출은? → 회귀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17336" y="1325880"/>
            <a:ext cx="5175504" cy="2180844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이 고객이 이탈할까? → 분류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71316"/>
            <a:ext cx="5175504" cy="2180844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비슷한 행동 그룹은? → 클러스터링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17336" y="3671316"/>
            <a:ext cx="5175504" cy="2180844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다음 30일 KPI 추이는? → 시계열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Feature / Label / Prediction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561320" cy="48006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• Example: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Feature: 예측에 사용할 과거 행동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Label: 맞히고 싶은 결과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Prediction Window: 어느 미래 기간을 예측할 것인가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최근 30일 행동 → 다음 30일 이탈 여부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57400"/>
            <a:ext cx="10241280" cy="96012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ctr"/>
            <a:r>
              <a:rPr sz="3300" b="1">
                <a:solidFill>
                  <a:srgbClr val="FFFFFF"/>
                </a:solidFill>
                <a:latin typeface="Arial"/>
              </a:rPr>
              <a:t>Section 3. Main lab — Churn classification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94560" y="3337560"/>
            <a:ext cx="77724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0B2D5B"/>
                </a:solidFill>
                <a:latin typeface="Arial"/>
              </a:rPr>
              <a:t>BQML 흐름 안에서 원본 사례를 새 강의자료 스타일로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Churn lab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561320" cy="48006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• Question: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Model: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Output: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어떤 가상 세그먼트가 이탈 위험이 높은가?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LOGISTIC_REG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개인 고객 리스트가 아니라 segment-level action priority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Churn lab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4160520" cy="48006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Arial"/>
              </a:rPr>
              <a:t>읽는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70332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1. synthetic users/events/orders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2. training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234440"/>
            <a:ext cx="630936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rmAutofit/>
          </a:bodyPr>
          <a:lstStyle/>
          <a:p>
            <a:pPr algn="ctr"/>
            <a:r>
              <a:rPr sz="1000" b="0">
                <a:solidFill>
                  <a:srgbClr val="E5E7EB"/>
                </a:solidFill>
                <a:latin typeface="Arial"/>
              </a:rPr>
              <a:t>3. CREATE MODEL LOGISTIC_REG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4. ML.EVALUATE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5. ML.PREDICT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6. segment action priority result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Classification evaluation logic — TP/FP/FN/TN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175504" cy="81015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600" b="0">
                <a:solidFill>
                  <a:srgbClr val="212529"/>
                </a:solidFill>
                <a:latin typeface="Arial"/>
              </a:rPr>
              <a:t>Before metrics, first draw the 2x2 logic.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17336" y="1234440"/>
            <a:ext cx="5175504" cy="81015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600" b="0">
                <a:solidFill>
                  <a:srgbClr val="212529"/>
                </a:solidFill>
                <a:latin typeface="Arial"/>
              </a:rPr>
              <a:t>Business reading: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9190"/>
            <a:ext cx="5175504" cy="81015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600" b="0">
                <a:solidFill>
                  <a:srgbClr val="212529"/>
                </a:solidFill>
                <a:latin typeface="Arial"/>
              </a:rPr>
              <a:t>TP: 구매/이탈/위험이 실제 O이고, 모델도 O라고 맞힘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17336" y="2209190"/>
            <a:ext cx="5175504" cy="81015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600" b="0">
                <a:solidFill>
                  <a:srgbClr val="212529"/>
                </a:solidFill>
                <a:latin typeface="Arial"/>
              </a:rPr>
              <a:t>FP: 실제는 X인데, 모델이 O라고 잘못 찍음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83940"/>
            <a:ext cx="5175504" cy="81015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600" b="0">
                <a:solidFill>
                  <a:srgbClr val="212529"/>
                </a:solidFill>
                <a:latin typeface="Arial"/>
              </a:rPr>
              <a:t>FN: 실제는 O인데, 모델이 X라고 놓침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17336" y="3183940"/>
            <a:ext cx="5175504" cy="81015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600" b="0">
                <a:solidFill>
                  <a:srgbClr val="212529"/>
                </a:solidFill>
                <a:latin typeface="Arial"/>
              </a:rPr>
              <a:t>TN: 실제 X이고, 모델도 X라고 맞힘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58691"/>
            <a:ext cx="5175504" cy="81015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600" b="0">
                <a:solidFill>
                  <a:srgbClr val="212529"/>
                </a:solidFill>
                <a:latin typeface="Arial"/>
              </a:rPr>
              <a:t>FP는 불필요한 캠페인/CS 비용을 만든다.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6" y="4158691"/>
            <a:ext cx="5175504" cy="81015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600" b="0">
                <a:solidFill>
                  <a:srgbClr val="212529"/>
                </a:solidFill>
                <a:latin typeface="Arial"/>
              </a:rPr>
              <a:t>FN은 실제 위험 고객을 놓쳐 매출/리텐션 손실을 만든다.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133441"/>
            <a:ext cx="5175504" cy="81015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600" b="0">
                <a:solidFill>
                  <a:srgbClr val="212529"/>
                </a:solidFill>
                <a:latin typeface="Arial"/>
              </a:rPr>
              <a:t>그래서 평가는 “정답률”이 아니라 “어떤 실수를 더 줄일 것인가”의 결정이다.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Classification metrics — 정확도만 보면 위험하다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515600" cy="4983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Example confusion matrix: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Metrics: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Key message: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N = 100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TP = 75, FP = 5, FN = 5, TN = 15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accuracy = (TP + TN) / N = 90%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precision = TP / (TP + FP) = 75 / 80 = 93.8%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recall = TP / (TP + FN) = 75 / 80 = 93.8%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f1_score = precision과 recall의 조화 평균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log_loss = 예측 확률이 실제 정답과 얼마나 어긋났는지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roc_auc = threshold를 바꿔도 양성과 음성을 잘 구분하는지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accuracy는 전체 정답률이다. 하지만 캠페인/리텐션에서는 FP와 FN의 비용이 다르므로 precision·recall·F1·AUC를 함께 봐야 한다.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Evaluation as action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175504" cy="105384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600" b="0">
                <a:solidFill>
                  <a:srgbClr val="212529"/>
                </a:solidFill>
                <a:latin typeface="Arial"/>
              </a:rPr>
              <a:t>precision: 찍은 대상이 실제 위험할 가능성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17336" y="1234440"/>
            <a:ext cx="5175504" cy="105384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600" b="0">
                <a:solidFill>
                  <a:srgbClr val="212529"/>
                </a:solidFill>
                <a:latin typeface="Arial"/>
              </a:rPr>
              <a:t>recall: 위험 대상을 놓치지 않는 정도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52878"/>
            <a:ext cx="5175504" cy="105384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600" b="0">
                <a:solidFill>
                  <a:srgbClr val="212529"/>
                </a:solidFill>
                <a:latin typeface="Arial"/>
              </a:rPr>
              <a:t>accuracy: 전체 정답률이지만, positive가 적거나 액션 비용이 다르면 단독 기준으로 부족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17336" y="2452878"/>
            <a:ext cx="5175504" cy="1053846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600" b="0">
                <a:solidFill>
                  <a:srgbClr val="212529"/>
                </a:solidFill>
                <a:latin typeface="Arial"/>
              </a:rPr>
              <a:t>f1_score: precision과 recall의 균형점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71316"/>
            <a:ext cx="5175504" cy="105384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600" b="0">
                <a:solidFill>
                  <a:srgbClr val="212529"/>
                </a:solidFill>
                <a:latin typeface="Arial"/>
              </a:rPr>
              <a:t>roc_auc: threshold 선택 전 모델의 구분력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17336" y="3671316"/>
            <a:ext cx="5175504" cy="105384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600" b="0">
                <a:solidFill>
                  <a:srgbClr val="212529"/>
                </a:solidFill>
                <a:latin typeface="Arial"/>
              </a:rPr>
              <a:t>캠페인 비용이 낮으면 recall 중심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889754"/>
            <a:ext cx="5175504" cy="105384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600" b="0">
                <a:solidFill>
                  <a:srgbClr val="212529"/>
                </a:solidFill>
                <a:latin typeface="Arial"/>
              </a:rPr>
              <a:t>CS 개입 비용이 높으면 precision 중심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Segment action priority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5175504" cy="2180844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Example: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17336" y="1325880"/>
            <a:ext cx="5175504" cy="2180844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dormant_risk: high priority retention message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71316"/>
            <a:ext cx="5175504" cy="2180844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others: monitor only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57400"/>
            <a:ext cx="10241280" cy="96012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ctr"/>
            <a:r>
              <a:rPr sz="3300" b="1">
                <a:solidFill>
                  <a:srgbClr val="FFFFFF"/>
                </a:solidFill>
                <a:latin typeface="Arial"/>
              </a:rPr>
              <a:t>Section 4. Optional patterns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94560" y="3337560"/>
            <a:ext cx="77724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0B2D5B"/>
                </a:solidFill>
                <a:latin typeface="Arial"/>
              </a:rPr>
              <a:t>BQML 흐름 안에서 원본 사례를 새 강의자료 스타일로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Clustering / Forecasting /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5175504" cy="2180844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KMEANS: 행동 세그먼트 가설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17336" y="1325880"/>
            <a:ext cx="5175504" cy="2180844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ARIMA_PLUS: daily KPI forecast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71316"/>
            <a:ext cx="5175504" cy="2180844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ML.CONFUSION_MATRIX, ML.ROC_CURVE: threshold trade-off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17336" y="3671316"/>
            <a:ext cx="5175504" cy="2180844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ML.EXPLAIN_PREDICT, ML.FEATURE_INFO: 해석/품질 점검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57400"/>
            <a:ext cx="10241280" cy="96012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ctr"/>
            <a:r>
              <a:rPr sz="3300" b="1">
                <a:solidFill>
                  <a:srgbClr val="FFFFFF"/>
                </a:solidFill>
                <a:latin typeface="Arial"/>
              </a:rPr>
              <a:t>Demo 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94560" y="3337560"/>
            <a:ext cx="77724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0B2D5B"/>
                </a:solidFill>
                <a:latin typeface="Arial"/>
              </a:rPr>
              <a:t>BQML 흐름 안에서 원본 사례를 새 강의자료 스타일로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BigQuery를 이용한 추천상품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5175504" cy="2180844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Everyday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17336" y="1325880"/>
            <a:ext cx="5175504" cy="2180844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People buy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71316"/>
            <a:ext cx="5175504" cy="2180844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lots of things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17336" y="3671316"/>
            <a:ext cx="5175504" cy="2180844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from your site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BigQuery &amp; Spark를 이용한 추천상품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10515600" cy="4526280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고객은 사이트에서 많은 상품을 구매합니다.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BigQuery &amp; Spark를 이용한 추천상품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561320" cy="48006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• Item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: 4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: 3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: 2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: 2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Node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BigQuery &amp; Spark를 이용한 추천상품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561320" cy="48006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• Purchase Data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고객별, 시간별로 구매 상품을 정리할 수 있음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Association rules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100%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75%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50%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...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BigQuery &amp; Spark를 이용한 추천상품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5175504" cy="2180844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Association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17336" y="1325880"/>
            <a:ext cx="5175504" cy="2180844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CID와 Date를 기준으로 Product 추출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71316"/>
            <a:ext cx="5175504" cy="2180844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Spark의 MLlib을 통한 추천상품 추출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BigQuery 를 이용한 카테고리별 Top 10 상품 추출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5166360" cy="4983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CRM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성별: 여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나이: 30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등급: 우수회원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자녀유무 : 관련 상품 구매이력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43000"/>
            <a:ext cx="5166360" cy="4983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사용자의 사이트 내 결제완료 데이터 수집 간 성별, 나이, 등급 등 다양한 조건을 통해 상품을 추출할 수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있도록 데이터를 수집합니다.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수집한 데이터는 Bigquery API를 통해 Python으로 직접 내려받아 정렬된 데이터를 추출합니다.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Bigquery API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추천피드 생성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BigQuery 를 이용한 카테고리별 Top 10 상품 추출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5175504" cy="4526280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Python을 통한 Query 실행 및 정렬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17336" y="1325880"/>
            <a:ext cx="5175504" cy="4526280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Python을 통해 추출한 엑셀 결과 파일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참고.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4160520" cy="48006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Arial"/>
              </a:rPr>
              <a:t>읽는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70332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BigQuery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활용의 어려움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SQL 구문 입력 필요</a:t>
            </a:r>
          </a:p>
          <a:p>
            <a:pPr>
              <a:spcAft>
                <a:spcPts val="700"/>
              </a:spcAft>
              <a:defRPr sz="1500">
                <a:solidFill>
                  <a:srgbClr val="212529"/>
                </a:solidFill>
                <a:latin typeface="Arial"/>
              </a:defRPr>
            </a:pPr>
            <a:r>
              <a:t>• SQL 구문 전체를 정확히 입력해야만 결과 데이터를 얻을 수 있음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234440"/>
            <a:ext cx="630936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rmAutofit/>
          </a:bodyPr>
          <a:lstStyle/>
          <a:p>
            <a:pPr algn="ctr"/>
            <a:r>
              <a:rPr sz="1000" b="0">
                <a:solidFill>
                  <a:srgbClr val="E5E7EB"/>
                </a:solidFill>
                <a:latin typeface="Arial"/>
              </a:rPr>
              <a:t>SELECT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device.browser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AS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browsers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,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SUM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(totals.pageviews)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AS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pageviews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FROM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`datalicious.123456789.ga_sessions_*`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WHERE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_TABLE_SUFFIX BETWEEN '20180423’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AND '20180429'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GROUP BY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browsers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ORDER BY</a:t>
            </a:r>
            <a:br/>
            <a:r>
              <a:rPr sz="1000" b="0">
                <a:solidFill>
                  <a:srgbClr val="E5E7EB"/>
                </a:solidFill>
                <a:latin typeface="Arial"/>
              </a:rPr>
              <a:t>pageviews DESC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마케터의 BigQuery 활용 제고를 위한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5175504" cy="2180844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EasyQuery 활용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17336" y="1325880"/>
            <a:ext cx="5175504" cy="2180844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Easy Query를 통해 데이터 항목만 입력해 주면 자동으로 SQL을 완성 및 데이터를 얻을 수 있는 솔루션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71316"/>
            <a:ext cx="5175504" cy="2180844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→ SQL 비 전문자의 빅쿼리 활용성 확대 및 데이터 확보를 위한 신속성과 효율성 증대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데이터리셔스 EasyQuery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5175504" cy="2180844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필드와 값 입력 → 필터 설정 → Test 및 쿼리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17336" y="1325880"/>
            <a:ext cx="5175504" cy="2180844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대상 필드 선택 및 구문 선택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71316"/>
            <a:ext cx="5175504" cy="2180844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세부 조건 입력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17336" y="3671316"/>
            <a:ext cx="5175504" cy="2180844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최종 검토 및 쿼리 실행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데이터리셔스 EasyQuery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10515600" cy="4526280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Arial"/>
              </a:rPr>
              <a:t>다운로드 및 자료(엑셀) 확인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On/Offline 데이터 결합을 통한 마케팅 자동화 구현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5166360" cy="4983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CRM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성별: 여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나이: 30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등급: 우수회원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자녀유무 : 관련 상품 구매이력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43000"/>
            <a:ext cx="5166360" cy="4983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Data import를 통한 CRM데이터 적재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EASY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QUERY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CID</a:t>
            </a:r>
          </a:p>
          <a:p>
            <a:pPr>
              <a:spcAft>
                <a:spcPts val="7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ETC.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실무 적용 시 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561320" cy="48006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• Security memo: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BQML은 정답 생성기가 아니라 가설 검증 도구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Feature/Label 설계가 틀리면 결과도 의미 없음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예측 결과는 반드시 액션으로 연결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실제 운영 데이터 적용 시 승인/최소필드/비식별/권한 제한 필요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본 실습 환경은 synthetic/sample 데이터와 가명 ID 기준이며, 실제 고객/개인 데이터 및 credential은 포함하지 않는다.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9875520" cy="621792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700" b="1">
                <a:solidFill>
                  <a:srgbClr val="0B2D5B"/>
                </a:solidFill>
                <a:latin typeface="Arial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75488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8580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44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561320" cy="48006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• 오늘의 한 줄: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&gt; BQML은 분석가가 SQL로 예측 질문을 실험하고, 결과를 액션 우선순위로 바꾸는 도구다.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Next: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BigQuery Console에서 demo dataset/model/result 확인</a:t>
            </a:r>
            <a:br/>
            <a:r>
              <a:rPr sz="1800" b="0">
                <a:solidFill>
                  <a:srgbClr val="212529"/>
                </a:solidFill>
                <a:latin typeface="Arial"/>
              </a:rPr>
              <a:t>• worksheet로 직접 query 흐름 따라가기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