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59"/>
  </p:notesMasterIdLst>
  <p:sldIdLst>
    <p:sldId id="374" r:id="rId2"/>
    <p:sldId id="375" r:id="rId3"/>
    <p:sldId id="376" r:id="rId4"/>
    <p:sldId id="319" r:id="rId5"/>
    <p:sldId id="377" r:id="rId6"/>
    <p:sldId id="378" r:id="rId7"/>
    <p:sldId id="379" r:id="rId8"/>
    <p:sldId id="380" r:id="rId9"/>
    <p:sldId id="381" r:id="rId10"/>
    <p:sldId id="382" r:id="rId11"/>
    <p:sldId id="383" r:id="rId12"/>
    <p:sldId id="384" r:id="rId13"/>
    <p:sldId id="385" r:id="rId14"/>
    <p:sldId id="386" r:id="rId15"/>
    <p:sldId id="387" r:id="rId16"/>
    <p:sldId id="388" r:id="rId17"/>
    <p:sldId id="389" r:id="rId18"/>
    <p:sldId id="390" r:id="rId19"/>
    <p:sldId id="391" r:id="rId20"/>
    <p:sldId id="392" r:id="rId21"/>
    <p:sldId id="393" r:id="rId22"/>
    <p:sldId id="394" r:id="rId23"/>
    <p:sldId id="395" r:id="rId24"/>
    <p:sldId id="396" r:id="rId25"/>
    <p:sldId id="397" r:id="rId26"/>
    <p:sldId id="398" r:id="rId27"/>
    <p:sldId id="399" r:id="rId28"/>
    <p:sldId id="400" r:id="rId29"/>
    <p:sldId id="401" r:id="rId30"/>
    <p:sldId id="402" r:id="rId31"/>
    <p:sldId id="403" r:id="rId32"/>
    <p:sldId id="404" r:id="rId33"/>
    <p:sldId id="418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419" r:id="rId48"/>
    <p:sldId id="420" r:id="rId49"/>
    <p:sldId id="421" r:id="rId50"/>
    <p:sldId id="422" r:id="rId51"/>
    <p:sldId id="429" r:id="rId52"/>
    <p:sldId id="423" r:id="rId53"/>
    <p:sldId id="424" r:id="rId54"/>
    <p:sldId id="425" r:id="rId55"/>
    <p:sldId id="426" r:id="rId56"/>
    <p:sldId id="427" r:id="rId57"/>
    <p:sldId id="428" r:id="rId58"/>
    <p:sldId id="430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1"/>
    <p:restoredTop sz="94678"/>
  </p:normalViewPr>
  <p:slideViewPr>
    <p:cSldViewPr snapToGrid="0" snapToObjects="1">
      <p:cViewPr varScale="1">
        <p:scale>
          <a:sx n="137" d="100"/>
          <a:sy n="137" d="100"/>
        </p:scale>
        <p:origin x="200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Relationship Id="rId64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9F5F1-F654-BB42-AA76-395B306A0C89}" type="datetimeFigureOut">
              <a:rPr kumimoji="1" lang="ko-Kore-KR" altLang="en-US" smtClean="0"/>
              <a:t>2026. 5. 20.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28AE82-F865-6C46-85CD-4367CAE35DB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0276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344" name="Google Shape;34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475" y="685800"/>
            <a:ext cx="609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352" name="Google Shape;35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475" y="685800"/>
            <a:ext cx="609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370" name="Google Shape;37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475" y="685800"/>
            <a:ext cx="609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423" name="Google Shape;42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475" y="685800"/>
            <a:ext cx="609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477" name="Google Shape;47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475" y="685800"/>
            <a:ext cx="609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해당 데이터를 통해 카테고리 Top 10과 각 카테고리에대한 Top 10 제품을 추출하는데, 성별, 나이 등급별 등 고객 데이터를 통해 다양한 타겟의 데이터를 추출할 수 있습니다.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495" name="Google Shape;49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518" name="Google Shape;51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475" y="685800"/>
            <a:ext cx="609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578" name="Google Shape;578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475" y="685800"/>
            <a:ext cx="6093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Section Heading 2">
  <p:cSld name="08 Section Heading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866100" y="2044800"/>
            <a:ext cx="9748400" cy="27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5025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6 Text - Red Heading">
  <p:cSld name="1_16 Text - Red Heading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0" y="449833"/>
            <a:ext cx="304800" cy="760800"/>
          </a:xfrm>
          <a:prstGeom prst="rect">
            <a:avLst/>
          </a:prstGeom>
          <a:solidFill>
            <a:srgbClr val="E62A38"/>
          </a:solidFill>
          <a:ln>
            <a:noFill/>
          </a:ln>
        </p:spPr>
        <p:txBody>
          <a:bodyPr spcFirstLastPara="1" wrap="square" lIns="121867" tIns="121867" rIns="121867" bIns="12186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5"/>
          <p:cNvSpPr txBox="1"/>
          <p:nvPr/>
        </p:nvSpPr>
        <p:spPr>
          <a:xfrm>
            <a:off x="11626415" y="6215000"/>
            <a:ext cx="565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7" tIns="121867" rIns="121867" bIns="121867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000"/>
              <a:buFont typeface="Proxima Nova"/>
              <a:buNone/>
            </a:pPr>
            <a:fld id="{00000000-1234-1234-1234-123412341234}" type="slidenum">
              <a:rPr lang="en-US" sz="1333" b="0" i="0" u="none" strike="noStrike" cap="none">
                <a:solidFill>
                  <a:srgbClr val="2E2E2E"/>
                </a:solidFill>
                <a:latin typeface="Proxima Nova"/>
                <a:ea typeface="Proxima Nova"/>
                <a:cs typeface="Proxima Nova"/>
                <a:sym typeface="Proxima Nova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2E2E"/>
                </a:buClr>
                <a:buSzPts val="1000"/>
                <a:buFont typeface="Proxima Nova"/>
                <a:buNone/>
              </a:pPr>
              <a:t>‹#›</a:t>
            </a:fld>
            <a:endParaRPr sz="1333" b="0" i="0" u="none" strike="noStrike" cap="none">
              <a:solidFill>
                <a:srgbClr val="2E2E2E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896000" y="609600"/>
            <a:ext cx="9607200" cy="4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275" tIns="88275" rIns="88275" bIns="88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Proxima Nova"/>
              <a:buNone/>
              <a:defRPr sz="3067" b="1" i="0" u="none" strike="noStrike" cap="none">
                <a:solidFill>
                  <a:srgbClr val="2E2E2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Proxima Nova"/>
              <a:buNone/>
              <a:defRPr sz="4800" b="1">
                <a:solidFill>
                  <a:srgbClr val="2E2E2E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Proxima Nova"/>
              <a:buNone/>
              <a:defRPr sz="4800" b="1">
                <a:solidFill>
                  <a:srgbClr val="2E2E2E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Proxima Nova"/>
              <a:buNone/>
              <a:defRPr sz="4800" b="1">
                <a:solidFill>
                  <a:srgbClr val="2E2E2E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Proxima Nova"/>
              <a:buNone/>
              <a:defRPr sz="4800" b="1">
                <a:solidFill>
                  <a:srgbClr val="2E2E2E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Proxima Nova"/>
              <a:buNone/>
              <a:defRPr sz="4800" b="1">
                <a:solidFill>
                  <a:srgbClr val="2E2E2E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Proxima Nova"/>
              <a:buNone/>
              <a:defRPr sz="4800" b="1">
                <a:solidFill>
                  <a:srgbClr val="2E2E2E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Proxima Nova"/>
              <a:buNone/>
              <a:defRPr sz="4800" b="1">
                <a:solidFill>
                  <a:srgbClr val="2E2E2E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Proxima Nova"/>
              <a:buNone/>
              <a:defRPr sz="4800" b="1">
                <a:solidFill>
                  <a:srgbClr val="2E2E2E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10779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i="0" kern="1200">
          <a:solidFill>
            <a:schemeClr val="tx1"/>
          </a:solidFill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Calibri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Calibri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Calibri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Calibri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Calibri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Calibri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Calibri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Calibri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Calibri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4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Relationship Id="rId5" Type="http://schemas.openxmlformats.org/officeDocument/2006/relationships/image" Target="../media/image5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13.png"/><Relationship Id="rId10" Type="http://schemas.openxmlformats.org/officeDocument/2006/relationships/image" Target="../media/image2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2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3786341"/>
            <a:ext cx="8070047" cy="521546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lnSpcReduction="10000"/>
          </a:bodyPr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2026. 05. 20. </a:t>
            </a:r>
            <a:br>
              <a:rPr lang="en-US" sz="1400" b="1">
                <a:solidFill>
                  <a:srgbClr val="FFFFFF"/>
                </a:solidFill>
                <a:latin typeface="Calibri"/>
              </a:rPr>
            </a:br>
            <a:r>
              <a:rPr lang="en-US" sz="1400" b="1">
                <a:solidFill>
                  <a:srgbClr val="FFFFFF"/>
                </a:solidFill>
                <a:latin typeface="Calibri"/>
              </a:rPr>
              <a:t>Sun Young Kim</a:t>
            </a:r>
            <a:endParaRPr sz="1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97560" y="1767840"/>
            <a:ext cx="10424160" cy="92117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나눔고딕"/>
                <a:ea typeface="나눔고딕"/>
              </a:rPr>
              <a:t>BigQuery ML for </a:t>
            </a:r>
            <a:r>
              <a:rPr lang="en-US" sz="3400" b="1">
                <a:solidFill>
                  <a:srgbClr val="FFFFFF"/>
                </a:solidFill>
                <a:latin typeface="나눔고딕"/>
                <a:ea typeface="나눔고딕"/>
              </a:rPr>
              <a:t>MFL Solutions Analysts</a:t>
            </a:r>
            <a:endParaRPr sz="3400" b="1">
              <a:solidFill>
                <a:srgbClr val="FFFFFF"/>
              </a:solidFill>
              <a:latin typeface="나눔고딕"/>
              <a:ea typeface="나눔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85000" lnSpcReduction="20000"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OCEO · Internal Analyst 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1AFAB-ABD5-945C-7048-DC6865ABB018}"/>
              </a:ext>
            </a:extLst>
          </p:cNvPr>
          <p:cNvSpPr txBox="1"/>
          <p:nvPr/>
        </p:nvSpPr>
        <p:spPr>
          <a:xfrm>
            <a:off x="3274574" y="2504348"/>
            <a:ext cx="583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kumimoji="1" lang="en-US" altLang="ko-Kore-KR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SQL </a:t>
            </a:r>
            <a:r>
              <a:rPr kumimoji="1" lang="ko-Kore-KR" altLang="en-US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로 예측 모델 만들고</a:t>
            </a:r>
            <a:r>
              <a:rPr kumimoji="1" lang="en-US" altLang="ko-Kore-KR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kumimoji="1" lang="ko-Kore-KR" altLang="en-US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평가하고</a:t>
            </a:r>
            <a:r>
              <a:rPr kumimoji="1" lang="en-US" altLang="ko-Kore-KR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kumimoji="1" lang="ko-Kore-KR" altLang="en-US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액션으로 연결하기</a:t>
            </a:r>
          </a:p>
        </p:txBody>
      </p:sp>
    </p:spTree>
    <p:extLst>
      <p:ext uri="{BB962C8B-B14F-4D97-AF65-F5344CB8AC3E}">
        <p14:creationId xmlns:p14="http://schemas.microsoft.com/office/powerpoint/2010/main" val="2960061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오늘의 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664" y="1607127"/>
            <a:ext cx="9767917" cy="4069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ctr"/>
            <a:endParaRPr lang="en-US" b="0">
              <a:solidFill>
                <a:srgbClr val="E5E7EB"/>
              </a:solidFill>
              <a:latin typeface="BM DoHyeon OTF" panose="020B0600000101010101" pitchFamily="34" charset="-127"/>
              <a:ea typeface="BM DoHyeon OTF" panose="020B0600000101010101" pitchFamily="34" charset="-127"/>
            </a:endParaRPr>
          </a:p>
          <a:p>
            <a:pPr algn="ctr"/>
            <a:r>
              <a:rPr b="0">
                <a:solidFill>
                  <a:srgbClr val="E5E7EB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BQML의 기본 흐름 이해: CREATE MODEL → ML.EVALUATE → ML.PREDICT</a:t>
            </a:r>
            <a:br>
              <a:rPr lang="en-US" b="0">
                <a:solidFill>
                  <a:srgbClr val="E5E7EB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</a:br>
            <a:br>
              <a:rPr sz="4400" b="1">
                <a:latin typeface="나눔고딕"/>
                <a:ea typeface="나눔고딕"/>
              </a:rPr>
            </a:br>
            <a:r>
              <a:rPr b="0">
                <a:solidFill>
                  <a:srgbClr val="E5E7EB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회귀/분류/클러스터링/시계열 질문 구분</a:t>
            </a:r>
            <a:br>
              <a:rPr lang="en-US" b="0">
                <a:solidFill>
                  <a:srgbClr val="E5E7EB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</a:br>
            <a:br>
              <a:rPr sz="4400" b="1">
                <a:latin typeface="나눔고딕"/>
                <a:ea typeface="나눔고딕"/>
              </a:rPr>
            </a:br>
            <a:r>
              <a:rPr b="0">
                <a:solidFill>
                  <a:srgbClr val="E5E7EB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예측 결과를 “액션 우선순위”로 해석</a:t>
            </a:r>
            <a:br>
              <a:rPr lang="en-US" b="0">
                <a:solidFill>
                  <a:srgbClr val="E5E7EB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</a:br>
            <a:br>
              <a:rPr sz="4400" b="1">
                <a:latin typeface="나눔고딕"/>
                <a:ea typeface="나눔고딕"/>
              </a:rPr>
            </a:br>
            <a:r>
              <a:rPr b="0">
                <a:solidFill>
                  <a:srgbClr val="E5E7EB"/>
                </a:solidFill>
                <a:latin typeface="BM DoHyeon OTF" panose="020B0600000101010101" pitchFamily="34" charset="-127"/>
                <a:ea typeface="BM DoHyeon OTF" panose="020B0600000101010101" pitchFamily="34" charset="-127"/>
              </a:rPr>
              <a:t>BigQuery Console에서 실제 demo table/model/result 확인</a:t>
            </a:r>
          </a:p>
        </p:txBody>
      </p:sp>
    </p:spTree>
    <p:extLst>
      <p:ext uri="{BB962C8B-B14F-4D97-AF65-F5344CB8AC3E}">
        <p14:creationId xmlns:p14="http://schemas.microsoft.com/office/powerpoint/2010/main" val="1311155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BQML 한 줄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BigQuery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SQL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BQML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ML.EVALUATE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ML.PREDICT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4355592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Action priority</a:t>
            </a:r>
          </a:p>
        </p:txBody>
      </p:sp>
    </p:spTree>
    <p:extLst>
      <p:ext uri="{BB962C8B-B14F-4D97-AF65-F5344CB8AC3E}">
        <p14:creationId xmlns:p14="http://schemas.microsoft.com/office/powerpoint/2010/main" val="3134523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BQML 기본 3단계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1. CREATE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2. ML.EVALUATE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Arial"/>
              </a:rPr>
              <a:t>3. ML.PREDICT</a:t>
            </a:r>
          </a:p>
        </p:txBody>
      </p:sp>
    </p:spTree>
    <p:extLst>
      <p:ext uri="{BB962C8B-B14F-4D97-AF65-F5344CB8AC3E}">
        <p14:creationId xmlns:p14="http://schemas.microsoft.com/office/powerpoint/2010/main" val="172521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lnSpcReduction="10000"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나눔고딕"/>
                <a:ea typeface="나눔고딕"/>
              </a:rPr>
              <a:t>Section 1. 첫 번째 예시 — 게임 데이터 매출 예측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85000" lnSpcReduction="20000"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OCEO · Internal Analyst Training</a:t>
            </a:r>
          </a:p>
        </p:txBody>
      </p:sp>
    </p:spTree>
    <p:extLst>
      <p:ext uri="{BB962C8B-B14F-4D97-AF65-F5344CB8AC3E}">
        <p14:creationId xmlns:p14="http://schemas.microsoft.com/office/powerpoint/2010/main" val="1532269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왜 게임 데이터부터 보는가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0" y="1534885"/>
            <a:ext cx="5257800" cy="23746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 sz="1600">
                <a:latin typeface="NanumGothic" panose="020D0604000000000000" pitchFamily="34" charset="-127"/>
                <a:ea typeface="NanumGothic" panose="020D0604000000000000" pitchFamily="34" charset="-127"/>
              </a:rPr>
              <a:t>• Key message: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 sz="1600">
                <a:latin typeface="NanumGothic" panose="020D0604000000000000" pitchFamily="34" charset="-127"/>
                <a:ea typeface="NanumGothic" panose="020D0604000000000000" pitchFamily="34" charset="-127"/>
              </a:rPr>
              <a:t>• feature가 직관적이다.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 sz="1600">
                <a:latin typeface="NanumGothic" panose="020D0604000000000000" pitchFamily="34" charset="-127"/>
                <a:ea typeface="NanumGothic" panose="020D0604000000000000" pitchFamily="34" charset="-127"/>
              </a:rPr>
              <a:t>• 게임시간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 sz="1600">
                <a:latin typeface="NanumGothic" panose="020D0604000000000000" pitchFamily="34" charset="-127"/>
                <a:ea typeface="NanumGothic" panose="020D0604000000000000" pitchFamily="34" charset="-127"/>
              </a:rPr>
              <a:t>• 로그인횟수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 sz="1600">
                <a:latin typeface="NanumGothic" panose="020D0604000000000000" pitchFamily="34" charset="-127"/>
                <a:ea typeface="NanumGothic" panose="020D0604000000000000" pitchFamily="34" charset="-127"/>
              </a:rPr>
              <a:t>• 달성레벨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534885"/>
            <a:ext cx="5257800" cy="237464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 sz="1600">
                <a:latin typeface="NanumGothic" panose="020D0604000000000000" pitchFamily="34" charset="-127"/>
                <a:ea typeface="NanumGothic" panose="020D0604000000000000" pitchFamily="34" charset="-127"/>
              </a:rPr>
              <a:t>• target이 명확하다.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 sz="1600">
                <a:latin typeface="NanumGothic" panose="020D0604000000000000" pitchFamily="34" charset="-127"/>
                <a:ea typeface="NanumGothic" panose="020D0604000000000000" pitchFamily="34" charset="-127"/>
              </a:rPr>
              <a:t>• 예상매출액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 sz="1600">
                <a:latin typeface="NanumGothic" panose="020D0604000000000000" pitchFamily="34" charset="-127"/>
                <a:ea typeface="NanumGothic" panose="020D0604000000000000" pitchFamily="34" charset="-127"/>
              </a:rPr>
              <a:t>• 모델 유형이 쉽다.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 sz="1600">
                <a:latin typeface="NanumGothic" panose="020D0604000000000000" pitchFamily="34" charset="-127"/>
                <a:ea typeface="NanumGothic" panose="020D0604000000000000" pitchFamily="34" charset="-127"/>
              </a:rPr>
              <a:t>• LINEAR_REG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 sz="1600">
                <a:latin typeface="NanumGothic" panose="020D0604000000000000" pitchFamily="34" charset="-127"/>
                <a:ea typeface="NanumGothic" panose="020D0604000000000000" pitchFamily="34" charset="-127"/>
              </a:rPr>
              <a:t>• “얼마나 클 것인가?”를 예측하는 가장 단순한 회귀 예제.</a:t>
            </a:r>
          </a:p>
        </p:txBody>
      </p:sp>
    </p:spTree>
    <p:extLst>
      <p:ext uri="{BB962C8B-B14F-4D97-AF65-F5344CB8AC3E}">
        <p14:creationId xmlns:p14="http://schemas.microsoft.com/office/powerpoint/2010/main" val="2458401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Game sample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9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Column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의미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user_id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가명 ID / synthetic CID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game_time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게임 이용 시간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login_count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로그인 횟수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level_achieved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달성 레벨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92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purchase_amount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예측할 구매 금액(label)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193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rank_value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맥락 변수 / 이번 모델에서는 제외 가능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499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분석 질문을 ML 문제로 바꾸기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400">
                <a:solidFill>
                  <a:srgbClr val="212529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• </a:t>
            </a:r>
            <a:r>
              <a:rPr sz="2400" b="1">
                <a:solidFill>
                  <a:srgbClr val="212529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Business question:</a:t>
            </a:r>
            <a:br>
              <a:rPr sz="2800" b="1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sz="2400" b="1">
                <a:solidFill>
                  <a:srgbClr val="212529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• ML framing:</a:t>
            </a:r>
            <a:br>
              <a:rPr sz="280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sz="2400" b="0">
                <a:solidFill>
                  <a:srgbClr val="212529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• 게임 행동 데이터로 예상 매출액을 예측할 수 있을까?</a:t>
            </a:r>
            <a:br>
              <a:rPr sz="280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sz="2400" b="1">
                <a:solidFill>
                  <a:srgbClr val="212529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• Model type: LINEAR_REG</a:t>
            </a:r>
            <a:br>
              <a:rPr sz="2800" b="1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sz="2400" b="0">
                <a:solidFill>
                  <a:srgbClr val="212529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• Features: game_time, login_count, level_achieved</a:t>
            </a:r>
            <a:br>
              <a:rPr sz="280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sz="2400" b="0">
                <a:solidFill>
                  <a:srgbClr val="212529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• Excluded context column: rank_value</a:t>
            </a:r>
            <a:br>
              <a:rPr sz="280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sz="2400" b="0">
                <a:solidFill>
                  <a:srgbClr val="212529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• Label: purchase_amount</a:t>
            </a:r>
            <a:br>
              <a:rPr sz="280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sz="2400" b="0">
                <a:solidFill>
                  <a:srgbClr val="212529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• Holdout example: user_id = 156</a:t>
            </a:r>
          </a:p>
        </p:txBody>
      </p:sp>
    </p:spTree>
    <p:extLst>
      <p:ext uri="{BB962C8B-B14F-4D97-AF65-F5344CB8AC3E}">
        <p14:creationId xmlns:p14="http://schemas.microsoft.com/office/powerpoint/2010/main" val="37135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Query 1 — CREATE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Calibri"/>
              </a:rPr>
              <a:t>읽는 포인트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r>
              <a:rPr sz="1600" b="0">
                <a:solidFill>
                  <a:srgbClr val="E5E7EB"/>
                </a:solidFill>
                <a:latin typeface="Calibri"/>
              </a:rPr>
              <a:t>CREATE OR REPLACE MODEL `...bqml_course_game_revenue_model_v0`</a:t>
            </a:r>
            <a:br>
              <a:rPr sz="4000"/>
            </a:br>
            <a:r>
              <a:rPr sz="1600" b="0">
                <a:solidFill>
                  <a:srgbClr val="E5E7EB"/>
                </a:solidFill>
                <a:latin typeface="Calibri"/>
              </a:rPr>
              <a:t>OPTIONS(</a:t>
            </a:r>
            <a:br>
              <a:rPr sz="4000"/>
            </a:br>
            <a:r>
              <a:rPr sz="1600" b="0">
                <a:solidFill>
                  <a:srgbClr val="E5E7EB"/>
                </a:solidFill>
                <a:latin typeface="Calibri"/>
              </a:rPr>
              <a:t>  model_type = 'LINEAR_REG',</a:t>
            </a:r>
            <a:br>
              <a:rPr sz="4000"/>
            </a:br>
            <a:r>
              <a:rPr sz="1600" b="0">
                <a:solidFill>
                  <a:srgbClr val="E5E7EB"/>
                </a:solidFill>
                <a:latin typeface="Calibri"/>
              </a:rPr>
              <a:t>  input_label_cols = ['purchase_amount'],</a:t>
            </a:r>
            <a:br>
              <a:rPr sz="4000"/>
            </a:br>
            <a:r>
              <a:rPr sz="1600" b="0">
                <a:solidFill>
                  <a:srgbClr val="E5E7EB"/>
                </a:solidFill>
                <a:latin typeface="Calibri"/>
              </a:rPr>
              <a:t>  data_split_method = 'NO_SPLIT'</a:t>
            </a:r>
            <a:br>
              <a:rPr sz="4000"/>
            </a:br>
            <a:r>
              <a:rPr sz="1600" b="0">
                <a:solidFill>
                  <a:srgbClr val="E5E7EB"/>
                </a:solidFill>
                <a:latin typeface="Calibri"/>
              </a:rPr>
              <a:t>) AS</a:t>
            </a:r>
            <a:br>
              <a:rPr sz="4000"/>
            </a:br>
            <a:r>
              <a:rPr sz="1600" b="0">
                <a:solidFill>
                  <a:srgbClr val="E5E7EB"/>
                </a:solidFill>
                <a:latin typeface="Calibri"/>
              </a:rPr>
              <a:t>SELECT</a:t>
            </a:r>
            <a:br>
              <a:rPr sz="4000"/>
            </a:br>
            <a:r>
              <a:rPr sz="1600" b="0">
                <a:solidFill>
                  <a:srgbClr val="E5E7EB"/>
                </a:solidFill>
                <a:latin typeface="Calibri"/>
              </a:rPr>
              <a:t>  game_time,</a:t>
            </a:r>
            <a:br>
              <a:rPr sz="4000"/>
            </a:br>
            <a:r>
              <a:rPr sz="1600" b="0">
                <a:solidFill>
                  <a:srgbClr val="E5E7EB"/>
                </a:solidFill>
                <a:latin typeface="Calibri"/>
              </a:rPr>
              <a:t>  login_count,</a:t>
            </a:r>
            <a:br>
              <a:rPr sz="4000"/>
            </a:br>
            <a:r>
              <a:rPr sz="1600" b="0">
                <a:solidFill>
                  <a:srgbClr val="E5E7EB"/>
                </a:solidFill>
                <a:latin typeface="Calibri"/>
              </a:rPr>
              <a:t>  level_achieved,</a:t>
            </a:r>
            <a:br>
              <a:rPr sz="4000"/>
            </a:br>
            <a:r>
              <a:rPr sz="1600" b="0">
                <a:solidFill>
                  <a:srgbClr val="E5E7EB"/>
                </a:solidFill>
                <a:latin typeface="Calibri"/>
              </a:rPr>
              <a:t>  purchase_amount</a:t>
            </a:r>
            <a:br>
              <a:rPr sz="4000"/>
            </a:br>
            <a:r>
              <a:rPr sz="1600" b="0">
                <a:solidFill>
                  <a:srgbClr val="E5E7EB"/>
                </a:solidFill>
                <a:latin typeface="Calibri"/>
              </a:rPr>
              <a:t>FROM `...bqml_course_game_data`</a:t>
            </a:r>
            <a:br>
              <a:rPr sz="4000"/>
            </a:br>
            <a:r>
              <a:rPr sz="1600" b="0">
                <a:solidFill>
                  <a:srgbClr val="E5E7EB"/>
                </a:solidFill>
                <a:latin typeface="Calibri"/>
              </a:rPr>
              <a:t>WHERE user_id != 156;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E50D6C-E2B3-A131-26A6-3377D9669D20}"/>
              </a:ext>
            </a:extLst>
          </p:cNvPr>
          <p:cNvSpPr txBox="1"/>
          <p:nvPr/>
        </p:nvSpPr>
        <p:spPr>
          <a:xfrm>
            <a:off x="914400" y="2108718"/>
            <a:ext cx="3703320" cy="27525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• data_split_method='NO_SPLIT'은 이번 demo에서 흐름을 단순하게 보여주기 위한 설정입니다.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• 대신 WHERE user_id != 156으로 특정 사용자를 예측 대상으로 남겨둡니다.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• 실제 운영 검증에서는 AUTO_SPLIT, RANDOM split, 별도 evaluation table을 권장합니다.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• 핵심은 학습 데이터와 예측/평가 대상을 섞지 않는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1813778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Query 2 — ML.EVALUATE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Calibri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80726"/>
            <a:ext cx="3703320" cy="37714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>
                <a:latin typeface="Aptos"/>
              </a:rPr>
              <a:t>• Metrics: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>
                <a:latin typeface="Aptos"/>
              </a:rPr>
              <a:t>• mean_absolute_error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>
                <a:latin typeface="Aptos"/>
              </a:rPr>
              <a:t>• mean_squared_error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>
                <a:latin typeface="Aptos"/>
              </a:rPr>
              <a:t>• median_absolute_error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>
                <a:latin typeface="Aptos"/>
              </a:rPr>
              <a:t>• r2_score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>
                <a:latin typeface="Aptos"/>
              </a:rPr>
              <a:t>• explained_variance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r>
              <a:rPr sz="2000" b="0">
                <a:solidFill>
                  <a:srgbClr val="E5E7EB"/>
                </a:solidFill>
                <a:latin typeface="Calibri"/>
              </a:rPr>
              <a:t>SELECT *</a:t>
            </a:r>
            <a:br>
              <a:rPr sz="4800"/>
            </a:br>
            <a:r>
              <a:rPr sz="2000" b="0">
                <a:solidFill>
                  <a:srgbClr val="E5E7EB"/>
                </a:solidFill>
                <a:latin typeface="Calibri"/>
              </a:rPr>
              <a:t>FROM ML.EVALUATE(</a:t>
            </a:r>
            <a:br>
              <a:rPr sz="4800"/>
            </a:br>
            <a:r>
              <a:rPr sz="2000" b="0">
                <a:solidFill>
                  <a:srgbClr val="E5E7EB"/>
                </a:solidFill>
                <a:latin typeface="Calibri"/>
              </a:rPr>
              <a:t>MODEL `...bqml_course_game_revenue_model_v0`,</a:t>
            </a:r>
            <a:br>
              <a:rPr sz="4800"/>
            </a:br>
            <a:r>
              <a:rPr sz="2000" b="0">
                <a:solidFill>
                  <a:srgbClr val="E5E7EB"/>
                </a:solidFill>
                <a:latin typeface="Calibri"/>
              </a:rPr>
              <a:t>TABLE eval_table</a:t>
            </a:r>
            <a:br>
              <a:rPr sz="4800"/>
            </a:br>
            <a:r>
              <a:rPr sz="2000" b="0">
                <a:solidFill>
                  <a:srgbClr val="E5E7EB"/>
                </a:solidFill>
                <a:latin typeface="Calibri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995520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Big query ML Ex: Evaluate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1018520" cy="5092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3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예측 성공 여부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구매 여부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32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32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32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solidFill>
                      <a:srgbClr val="0B2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Positive (구매=O)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32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32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32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False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Negative (구매=x)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32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32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32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구분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구매 예측 설명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늑대 비유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분류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스팸 예시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구매할 것을 예측 성공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늑대가 나타날 것이다라고 외침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양성을 양성으로 판정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스팸 예측 성공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FP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구매할 거라 예측했는데, 예측 실패 (구매 안함)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늑대다라고 외쳤는데, 안나타남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음성을 양성으로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스팸 아닌데 스팸이라 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FN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구매 안할거라 예측했는데, 예측 실패 (구매 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늑대 안 온다고 예측했는데, 예측 실패 (늑대 오는데 안 온다고 함)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양성을 음성으로 판정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스팸인데, 스팸 아닌 걸로 판정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구매안할 거라 예측했는데, 실제로도 구매 안함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늑대 안 온다고 하고, 실제로도 늑대 안홈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음성을 음성으로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스팸 아닌 건 스팸 아닌 걸로 분류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4435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Big query ML Ex: Evaluate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4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4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4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6116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N=100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4400">
                        <a:latin typeface="NanumGothic" pitchFamily="2" charset="-127"/>
                        <a:ea typeface="NanumGothic" pitchFamily="2" charset="-127"/>
                      </a:endParaRP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4400">
                        <a:latin typeface="NanumGothic" pitchFamily="2" charset="-127"/>
                        <a:ea typeface="NanumGothic" pitchFamily="2" charset="-127"/>
                      </a:endParaRP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4400">
                        <a:latin typeface="NanumGothic" pitchFamily="2" charset="-127"/>
                        <a:ea typeface="NanumGothic" pitchFamily="2" charset="-127"/>
                      </a:endParaRPr>
                    </a:p>
                  </a:txBody>
                  <a:tcPr>
                    <a:solidFill>
                      <a:srgbClr val="0B2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11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TP (구매O,예측성공)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FP (구매X,예측실패)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FN(구매O,예측실패)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TN(구매X,예측성공)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11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75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85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모델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452628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000" b="1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the mean absolute error is an average of the absolute 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4526280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000" b="1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실측치(Observation)와 예측치(Prediction)간의 차이 절대값의 평균</a:t>
            </a:r>
          </a:p>
        </p:txBody>
      </p:sp>
    </p:spTree>
    <p:extLst>
      <p:ext uri="{BB962C8B-B14F-4D97-AF65-F5344CB8AC3E}">
        <p14:creationId xmlns:p14="http://schemas.microsoft.com/office/powerpoint/2010/main" val="2703711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모델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원문 키워드: mean squared error (MSE)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오차가 큰 예측에 더 큰 패널티를 줍니다.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회귀 모델에서는 MAE와 함께 예측 오차 크기를 보는 핵심 지표입니다.</a:t>
            </a:r>
          </a:p>
        </p:txBody>
      </p:sp>
    </p:spTree>
    <p:extLst>
      <p:ext uri="{BB962C8B-B14F-4D97-AF65-F5344CB8AC3E}">
        <p14:creationId xmlns:p14="http://schemas.microsoft.com/office/powerpoint/2010/main" val="2577490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모델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4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실제 관측 값과 예측 값 간의 상관 계수를 구한 다음 제곱해서 구함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4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SSR = (예측값 - 평균)²의 합계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4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SSE = (관측값 - 예측값)²의 합계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4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SST = SSR + SSE</a:t>
            </a:r>
          </a:p>
        </p:txBody>
      </p:sp>
    </p:spTree>
    <p:extLst>
      <p:ext uri="{BB962C8B-B14F-4D97-AF65-F5344CB8AC3E}">
        <p14:creationId xmlns:p14="http://schemas.microsoft.com/office/powerpoint/2010/main" val="3647870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Query 3 — ML.PREDICT for user 156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Calibri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7420"/>
            <a:ext cx="3703320" cy="38647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 sz="1600">
                <a:latin typeface="NanumGothic" pitchFamily="2" charset="-127"/>
                <a:ea typeface="NanumGothic" pitchFamily="2" charset="-127"/>
              </a:rPr>
              <a:t>• 실제 구매액과 예측 구매액을 같은 행에서 비교합니다.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 sz="1600">
                <a:latin typeface="NanumGothic" pitchFamily="2" charset="-127"/>
                <a:ea typeface="NanumGothic" pitchFamily="2" charset="-127"/>
              </a:rPr>
              <a:t>• absolute_error로 예측 오차 크기를 바로 확인합니다.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 sz="1600">
                <a:latin typeface="NanumGothic" pitchFamily="2" charset="-127"/>
                <a:ea typeface="NanumGothic" pitchFamily="2" charset="-127"/>
              </a:rPr>
              <a:t>• 결과 표는 “모델이 얼마나 빗나갔는가”를 설명하는 근거 자료입니다.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r>
              <a:rPr sz="2000" b="0">
                <a:solidFill>
                  <a:srgbClr val="E5E7EB"/>
                </a:solidFill>
                <a:latin typeface="Calibri"/>
              </a:rPr>
              <a:t>SELECT</a:t>
            </a:r>
            <a:br>
              <a:rPr sz="4800"/>
            </a:br>
            <a:r>
              <a:rPr sz="2000" b="0">
                <a:solidFill>
                  <a:srgbClr val="E5E7EB"/>
                </a:solidFill>
                <a:latin typeface="Calibri"/>
              </a:rPr>
              <a:t>truth.user_id,</a:t>
            </a:r>
            <a:br>
              <a:rPr sz="4800"/>
            </a:br>
            <a:r>
              <a:rPr sz="2000" b="0">
                <a:solidFill>
                  <a:srgbClr val="E5E7EB"/>
                </a:solidFill>
                <a:latin typeface="Calibri"/>
              </a:rPr>
              <a:t>truth.purchase_amount AS actual_purchase_amount,</a:t>
            </a:r>
            <a:br>
              <a:rPr sz="4800"/>
            </a:br>
            <a:r>
              <a:rPr sz="2000" b="0">
                <a:solidFill>
                  <a:srgbClr val="E5E7EB"/>
                </a:solidFill>
                <a:latin typeface="Calibri"/>
              </a:rPr>
              <a:t>predictions.predicted_purchase_amount,</a:t>
            </a:r>
            <a:br>
              <a:rPr sz="4800"/>
            </a:br>
            <a:r>
              <a:rPr sz="2000" b="0">
                <a:solidFill>
                  <a:srgbClr val="E5E7EB"/>
                </a:solidFill>
                <a:latin typeface="Calibri"/>
              </a:rPr>
              <a:t>ABS(truth.purchase_amount - predictions.predicted_purchase_amount) AS absolute_error</a:t>
            </a:r>
            <a:br>
              <a:rPr sz="4800"/>
            </a:br>
            <a:r>
              <a:rPr sz="2000" b="0">
                <a:solidFill>
                  <a:srgbClr val="E5E7EB"/>
                </a:solidFill>
                <a:latin typeface="Calibri"/>
              </a:rPr>
              <a:t>FROM game_to_predict AS truth</a:t>
            </a:r>
            <a:br>
              <a:rPr sz="4800"/>
            </a:br>
            <a:r>
              <a:rPr sz="2000" b="0">
                <a:solidFill>
                  <a:srgbClr val="E5E7EB"/>
                </a:solidFill>
                <a:latin typeface="Calibri"/>
              </a:rPr>
              <a:t>JOIN predictions USING (user_id);</a:t>
            </a:r>
          </a:p>
        </p:txBody>
      </p:sp>
    </p:spTree>
    <p:extLst>
      <p:ext uri="{BB962C8B-B14F-4D97-AF65-F5344CB8AC3E}">
        <p14:creationId xmlns:p14="http://schemas.microsoft.com/office/powerpoint/2010/main" val="2079116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703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Game demo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Calibri"/>
              </a:rPr>
              <a:t>읽는 포인트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ctr"/>
            <a:r>
              <a:rPr sz="2000" b="0">
                <a:solidFill>
                  <a:srgbClr val="E5E7EB"/>
                </a:solidFill>
                <a:latin typeface="NanumGothic" pitchFamily="2" charset="-127"/>
                <a:ea typeface="NanumGothic" pitchFamily="2" charset="-127"/>
              </a:rPr>
              <a:t>CREATE MODEL: 모델 생성</a:t>
            </a:r>
            <a:br>
              <a:rPr sz="4800">
                <a:latin typeface="NanumGothic" pitchFamily="2" charset="-127"/>
                <a:ea typeface="NanumGothic" pitchFamily="2" charset="-127"/>
              </a:rPr>
            </a:br>
            <a:r>
              <a:rPr sz="2000" b="0">
                <a:solidFill>
                  <a:srgbClr val="E5E7EB"/>
                </a:solidFill>
                <a:latin typeface="NanumGothic" pitchFamily="2" charset="-127"/>
                <a:ea typeface="NanumGothic" pitchFamily="2" charset="-127"/>
              </a:rPr>
              <a:t>ML.EVALUATE: 성능 확인</a:t>
            </a:r>
            <a:br>
              <a:rPr sz="4800">
                <a:latin typeface="NanumGothic" pitchFamily="2" charset="-127"/>
                <a:ea typeface="NanumGothic" pitchFamily="2" charset="-127"/>
              </a:rPr>
            </a:br>
            <a:r>
              <a:rPr sz="2000" b="0">
                <a:solidFill>
                  <a:srgbClr val="E5E7EB"/>
                </a:solidFill>
                <a:latin typeface="NanumGothic" pitchFamily="2" charset="-127"/>
                <a:ea typeface="NanumGothic" pitchFamily="2" charset="-127"/>
              </a:rPr>
              <a:t>ML.PREDICT: 예측값 생성</a:t>
            </a:r>
            <a:br>
              <a:rPr sz="4800">
                <a:latin typeface="NanumGothic" pitchFamily="2" charset="-127"/>
                <a:ea typeface="NanumGothic" pitchFamily="2" charset="-127"/>
              </a:rPr>
            </a:br>
            <a:r>
              <a:rPr sz="2000" b="0">
                <a:solidFill>
                  <a:srgbClr val="E5E7EB"/>
                </a:solidFill>
                <a:latin typeface="NanumGothic" pitchFamily="2" charset="-127"/>
                <a:ea typeface="NanumGothic" pitchFamily="2" charset="-127"/>
              </a:rPr>
              <a:t>회귀 모델은 “얼마나 클 것인가?”를 예측한다.</a:t>
            </a:r>
            <a:br>
              <a:rPr sz="4800">
                <a:latin typeface="NanumGothic" pitchFamily="2" charset="-127"/>
                <a:ea typeface="NanumGothic" pitchFamily="2" charset="-127"/>
              </a:rPr>
            </a:br>
            <a:r>
              <a:rPr sz="2000" b="0">
                <a:solidFill>
                  <a:srgbClr val="E5E7EB"/>
                </a:solidFill>
                <a:latin typeface="NanumGothic" pitchFamily="2" charset="-127"/>
                <a:ea typeface="NanumGothic" pitchFamily="2" charset="-127"/>
              </a:rPr>
              <a:t>다음 단계에서는 “누구에게 액션할 것인가?”를 분류 모델로 본다.</a:t>
            </a:r>
          </a:p>
        </p:txBody>
      </p:sp>
    </p:spTree>
    <p:extLst>
      <p:ext uri="{BB962C8B-B14F-4D97-AF65-F5344CB8AC3E}">
        <p14:creationId xmlns:p14="http://schemas.microsoft.com/office/powerpoint/2010/main" val="2850449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lnSpcReduction="10000"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나눔고딕"/>
                <a:ea typeface="나눔고딕"/>
              </a:rPr>
              <a:t>Section 2. BQML 사고방식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85000" lnSpcReduction="20000"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OCEO · Internal Analyst Training</a:t>
            </a:r>
          </a:p>
        </p:txBody>
      </p:sp>
    </p:spTree>
    <p:extLst>
      <p:ext uri="{BB962C8B-B14F-4D97-AF65-F5344CB8AC3E}">
        <p14:creationId xmlns:p14="http://schemas.microsoft.com/office/powerpoint/2010/main" val="1145351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비즈니스 질문 → ML 문제 유형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다음 30일 매출은? → 회귀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이 고객이 이탈할까? → 분류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비슷한 행동 그룹은? → 클러스터링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다음 30일 KPI 추이는? → 시계열</a:t>
            </a:r>
          </a:p>
        </p:txBody>
      </p:sp>
    </p:spTree>
    <p:extLst>
      <p:ext uri="{BB962C8B-B14F-4D97-AF65-F5344CB8AC3E}">
        <p14:creationId xmlns:p14="http://schemas.microsoft.com/office/powerpoint/2010/main" val="4180714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Feature / Label / Prediction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Example: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Feature: 예측에 사용할 과거 행동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Label: 맞히고 싶은 결과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Prediction Window: 어느 미래 기간을 예측할 것인가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최근 30일 행동 → 다음 30일 이탈 여부</a:t>
            </a:r>
          </a:p>
        </p:txBody>
      </p:sp>
    </p:spTree>
    <p:extLst>
      <p:ext uri="{BB962C8B-B14F-4D97-AF65-F5344CB8AC3E}">
        <p14:creationId xmlns:p14="http://schemas.microsoft.com/office/powerpoint/2010/main" val="2352072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lnSpcReduction="10000"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나눔고딕"/>
                <a:ea typeface="나눔고딕"/>
              </a:rPr>
              <a:t>Section 3. Main lab — Churn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85000" lnSpcReduction="20000"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OCEO · Internal Analyst Training</a:t>
            </a:r>
          </a:p>
        </p:txBody>
      </p:sp>
    </p:spTree>
    <p:extLst>
      <p:ext uri="{BB962C8B-B14F-4D97-AF65-F5344CB8AC3E}">
        <p14:creationId xmlns:p14="http://schemas.microsoft.com/office/powerpoint/2010/main" val="1760295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Churn lab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Question: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lang="ko-KR" altLang="en-US">
                <a:solidFill>
                  <a:srgbClr val="212529"/>
                </a:solidFill>
                <a:latin typeface="Aptos"/>
              </a:rPr>
              <a:t>어떤 가상 세그먼트가 이탈 위험이 높은가</a:t>
            </a:r>
            <a:r>
              <a:rPr lang="en-US" altLang="ko-KR">
                <a:solidFill>
                  <a:srgbClr val="212529"/>
                </a:solidFill>
                <a:latin typeface="Aptos"/>
              </a:rPr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Output: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lang="ko-KR" altLang="en-US">
                <a:solidFill>
                  <a:srgbClr val="212529"/>
                </a:solidFill>
                <a:latin typeface="Aptos"/>
              </a:rPr>
              <a:t>개인 고객 리스트가 아니라 </a:t>
            </a:r>
            <a:r>
              <a:rPr lang="en-US" altLang="ko-Kore-KR">
                <a:solidFill>
                  <a:srgbClr val="212529"/>
                </a:solidFill>
                <a:latin typeface="Aptos"/>
              </a:rPr>
              <a:t>segment-level action priority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lang="en-US" altLang="ko-Kore-KR">
                <a:solidFill>
                  <a:srgbClr val="212529"/>
                </a:solidFill>
                <a:latin typeface="Aptos"/>
              </a:rPr>
              <a:t>Model:</a:t>
            </a:r>
            <a:endParaRPr sz="1800" b="0">
              <a:solidFill>
                <a:srgbClr val="212529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35624" y="4355592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lang="en-US" altLang="ko-Kore-KR">
                <a:solidFill>
                  <a:srgbClr val="212529"/>
                </a:solidFill>
                <a:latin typeface="Aptos"/>
              </a:rPr>
              <a:t>LOGISTIC_REG</a:t>
            </a:r>
            <a:endParaRPr sz="1800" b="0">
              <a:solidFill>
                <a:srgbClr val="212529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6454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Churn lab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Calibri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8718"/>
            <a:ext cx="3703320" cy="374344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 sz="1400">
                <a:latin typeface="Aptos"/>
              </a:rPr>
              <a:t>• 1. synthetic users/events/orders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 sz="1400">
                <a:latin typeface="Aptos"/>
              </a:rPr>
              <a:t>• 2. training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ctr"/>
            <a:r>
              <a:rPr sz="2000" b="0">
                <a:solidFill>
                  <a:srgbClr val="E5E7EB"/>
                </a:solidFill>
                <a:latin typeface="Calibri"/>
              </a:rPr>
              <a:t>3. CREATE MODEL LOGISTIC_REG</a:t>
            </a:r>
            <a:br>
              <a:rPr sz="4800"/>
            </a:br>
            <a:r>
              <a:rPr sz="2000" b="0">
                <a:solidFill>
                  <a:srgbClr val="E5E7EB"/>
                </a:solidFill>
                <a:latin typeface="Calibri"/>
              </a:rPr>
              <a:t>4. ML.EVALUATE</a:t>
            </a:r>
            <a:br>
              <a:rPr sz="4800"/>
            </a:br>
            <a:r>
              <a:rPr sz="2000" b="0">
                <a:solidFill>
                  <a:srgbClr val="E5E7EB"/>
                </a:solidFill>
                <a:latin typeface="Calibri"/>
              </a:rPr>
              <a:t>5. ML.PREDICT</a:t>
            </a:r>
            <a:br>
              <a:rPr sz="4800"/>
            </a:br>
            <a:r>
              <a:rPr sz="2000" b="0">
                <a:solidFill>
                  <a:srgbClr val="E5E7EB"/>
                </a:solidFill>
                <a:latin typeface="Calibri"/>
              </a:rPr>
              <a:t>6. segment action priority result</a:t>
            </a:r>
          </a:p>
        </p:txBody>
      </p:sp>
    </p:spTree>
    <p:extLst>
      <p:ext uri="{BB962C8B-B14F-4D97-AF65-F5344CB8AC3E}">
        <p14:creationId xmlns:p14="http://schemas.microsoft.com/office/powerpoint/2010/main" val="1408608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Classification evaluation logic — TP/FP/FN/TN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2000" b="0">
                <a:solidFill>
                  <a:srgbClr val="212529"/>
                </a:solidFill>
                <a:latin typeface="Calibri"/>
              </a:rPr>
              <a:t>• Before metrics, first draw the 2x2 logic.</a:t>
            </a:r>
            <a:br>
              <a:rPr sz="2400"/>
            </a:br>
            <a:r>
              <a:rPr sz="2000" b="0">
                <a:solidFill>
                  <a:srgbClr val="212529"/>
                </a:solidFill>
                <a:latin typeface="Calibri"/>
              </a:rPr>
              <a:t>• Business reading:</a:t>
            </a:r>
            <a:br>
              <a:rPr sz="2400"/>
            </a:br>
            <a:r>
              <a:rPr sz="2000" b="0">
                <a:solidFill>
                  <a:srgbClr val="212529"/>
                </a:solidFill>
                <a:latin typeface="Calibri"/>
              </a:rPr>
              <a:t>• TP: 구매/이탈/위험이 실제 O이고, 모델도 O라고 맞힘</a:t>
            </a:r>
            <a:br>
              <a:rPr sz="2400"/>
            </a:br>
            <a:r>
              <a:rPr sz="2000" b="0">
                <a:solidFill>
                  <a:srgbClr val="212529"/>
                </a:solidFill>
                <a:latin typeface="Calibri"/>
              </a:rPr>
              <a:t>• FP: 실제는 X인데, 모델이 O라고 잘못 찍음</a:t>
            </a:r>
            <a:br>
              <a:rPr sz="2400"/>
            </a:br>
            <a:r>
              <a:rPr sz="2000" b="0">
                <a:solidFill>
                  <a:srgbClr val="212529"/>
                </a:solidFill>
                <a:latin typeface="Calibri"/>
              </a:rPr>
              <a:t>• FN: 실제는 O인데, 모델이 X라고 놓침</a:t>
            </a:r>
            <a:br>
              <a:rPr sz="2400"/>
            </a:br>
            <a:r>
              <a:rPr sz="2000" b="0">
                <a:solidFill>
                  <a:srgbClr val="212529"/>
                </a:solidFill>
                <a:latin typeface="Calibri"/>
              </a:rPr>
              <a:t>• TN: 실제 X이고, 모델도 X라고 맞힘</a:t>
            </a:r>
            <a:br>
              <a:rPr sz="2400"/>
            </a:br>
            <a:r>
              <a:rPr sz="2000" b="0">
                <a:solidFill>
                  <a:srgbClr val="212529"/>
                </a:solidFill>
                <a:latin typeface="Calibri"/>
              </a:rPr>
              <a:t>• FP는 불필요한 캠페인/CS 비용을 만든다.</a:t>
            </a:r>
            <a:br>
              <a:rPr sz="2400"/>
            </a:br>
            <a:r>
              <a:rPr sz="2000" b="0">
                <a:solidFill>
                  <a:srgbClr val="212529"/>
                </a:solidFill>
                <a:latin typeface="Calibri"/>
              </a:rPr>
              <a:t>• FN은 실제 위험 고객을 놓쳐 매출/리텐션 손실을 만든다.</a:t>
            </a:r>
            <a:br>
              <a:rPr sz="2400"/>
            </a:br>
            <a:r>
              <a:rPr sz="2000" b="0">
                <a:solidFill>
                  <a:srgbClr val="212529"/>
                </a:solidFill>
                <a:latin typeface="Calibri"/>
              </a:rPr>
              <a:t>• 그래서 평가는 “정답률”이 아니라 “어떤 실수를 더 줄일 것인가”의 결정이다.</a:t>
            </a:r>
          </a:p>
        </p:txBody>
      </p:sp>
    </p:spTree>
    <p:extLst>
      <p:ext uri="{BB962C8B-B14F-4D97-AF65-F5344CB8AC3E}">
        <p14:creationId xmlns:p14="http://schemas.microsoft.com/office/powerpoint/2010/main" val="3998988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원본 p12 — 회귀 평가: MAE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the mean absolute error is an average of the absolute 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실측치(Observation)와 예측치(Prediction)간의 차이 절대값의 평균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해석: 평균적으로 예측이 실제값에서 얼마나 벗어나는지 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lang="ko-Kore-KR" altLang="en-US" sz="1800" b="0">
                <a:solidFill>
                  <a:srgbClr val="212529"/>
                </a:solidFill>
                <a:latin typeface="Calibri"/>
              </a:rPr>
              <a:t>액션</a:t>
            </a:r>
            <a:r>
              <a:rPr sz="1800" b="0">
                <a:solidFill>
                  <a:srgbClr val="212529"/>
                </a:solidFill>
                <a:latin typeface="Calibri"/>
              </a:rPr>
              <a:t> 연결: MAE는 “오차가 의사결정에 허용 가능한가?”로 읽습니다.</a:t>
            </a:r>
          </a:p>
        </p:txBody>
      </p:sp>
    </p:spTree>
    <p:extLst>
      <p:ext uri="{BB962C8B-B14F-4D97-AF65-F5344CB8AC3E}">
        <p14:creationId xmlns:p14="http://schemas.microsoft.com/office/powerpoint/2010/main" val="3284009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원본 p13 — 회귀 평가: MSE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원문 키워드: mean squared error (MSE)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큰 오차에 더 큰 패널티를 줍니다.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MAE와 함께 보면 오차의 평균 크기와 큰 오차의 위험을 나눠 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943440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원본 p14 — 회귀 평가: 설명력과 오차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실제 관측 값과 예측 값 간의 상관 계수를 구한 다음 제곱해서 구함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SSR = (예측값 - 평균)²의 합계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SSE = (관측값 - 예측값)²의 합계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SST = SSR + SSE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NanumGothic" pitchFamily="2" charset="-127"/>
                <a:ea typeface="NanumGothic" pitchFamily="2" charset="-127"/>
              </a:rPr>
              <a:t>해석: 모델이 실제값의 변동을 얼마나 설명하는지 확인합니다.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4355592"/>
            <a:ext cx="5202936" cy="1405128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2E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5624" y="4485592"/>
            <a:ext cx="4842936" cy="1145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E58B2"/>
                </a:solidFill>
                <a:latin typeface="Malgun Gothic"/>
              </a:rPr>
              <a:t>R² 수식과 실무 해석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1A283A"/>
                </a:solidFill>
                <a:latin typeface="Malgun Gothic"/>
              </a:rPr>
              <a:t>R² = 1 - (SSE / SST)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1A283A"/>
                </a:solidFill>
                <a:latin typeface="Malgun Gothic"/>
              </a:rPr>
              <a:t>= 1 - (모델이 틀린 정도 / 원래 데이터가 들쭉날쭉한 정도)</a:t>
            </a:r>
          </a:p>
          <a:p>
            <a:pPr>
              <a:spcAft>
                <a:spcPts val="200"/>
              </a:spcAft>
            </a:pPr>
            <a:r>
              <a:rPr sz="900" b="0">
                <a:solidFill>
                  <a:srgbClr val="1A283A"/>
                </a:solidFill>
                <a:latin typeface="Malgun Gothic"/>
              </a:rPr>
              <a:t>예: R²=0.72 → 실제값 변동의 약 72%를 모델이 설명.</a:t>
            </a:r>
          </a:p>
          <a:p>
            <a:pPr>
              <a:spcAft>
                <a:spcPts val="200"/>
              </a:spcAft>
            </a:pPr>
            <a:r>
              <a:rPr sz="800" b="0">
                <a:solidFill>
                  <a:srgbClr val="1A283A"/>
                </a:solidFill>
                <a:latin typeface="Malgun Gothic"/>
              </a:rPr>
              <a:t>높다고 무조건 좋은 모델은 아닙니다. 과적합·데이터 누수·업무상 허용 오차를 함께 봅니다.</a:t>
            </a:r>
          </a:p>
        </p:txBody>
      </p:sp>
    </p:spTree>
    <p:extLst>
      <p:ext uri="{BB962C8B-B14F-4D97-AF65-F5344CB8AC3E}">
        <p14:creationId xmlns:p14="http://schemas.microsoft.com/office/powerpoint/2010/main" val="2206612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분류 모델 평가 지표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28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707898"/>
              </p:ext>
            </p:extLst>
          </p:nvPr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9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예시 confusion matrix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값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12529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12529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12529"/>
                          </a:solidFill>
                          <a:latin typeface="Calibri"/>
                        </a:rPr>
                        <a:t>TP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12529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12529"/>
                          </a:solidFill>
                          <a:latin typeface="Calibri"/>
                        </a:rPr>
                        <a:t>FP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12529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12529"/>
                          </a:solidFill>
                          <a:latin typeface="Calibri"/>
                        </a:rPr>
                        <a:t>FN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12529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12529"/>
                          </a:solidFill>
                          <a:latin typeface="Calibri"/>
                        </a:rPr>
                        <a:t>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12529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9340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평가 지표를 액션 비용으로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29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506809"/>
              </p:ext>
            </p:extLst>
          </p:nvPr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587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상황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우선 지표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이유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587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Calibri"/>
                        </a:rPr>
                        <a:t>캠페인 비용이 낮고 놓치면 손실이 큰 경우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Calibri"/>
                        </a:rPr>
                        <a:t>recall 중심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위험/기회 고객을 놓치지 않는 것이 중요합니다.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587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Calibri"/>
                        </a:rPr>
                        <a:t>CS·상담·고비용 오퍼처럼 개입 비용이 큰 경우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Calibri"/>
                        </a:rPr>
                        <a:t>precision 중심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잘못 찍은 대상에게 비용을 쓰지 않는 것이 중요합니다.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587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Calibri"/>
                        </a:rPr>
                        <a:t>전체 모델 비교나 균형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Calibri"/>
                        </a:rPr>
                        <a:t>f1_score / roc_auc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정밀도와 재현율의 균형, threshold 전반의 구분력을 함께 봅니다.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529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Segment action priority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770669"/>
              </p:ext>
            </p:extLst>
          </p:nvPr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Segment example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의미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액션 후보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dormant_risk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미접속/저활동 위험 후보 신호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재방문 유도 실험 후보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repeat_purchaser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반복 구매 행동 신호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멤버십/번들 오퍼 실험 후보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high_playtime_low_purchase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몰입은 높지만 구매 전환이 낮은 신호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전환 유도 메시지/혜택 실험 후보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support_need_signal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지원 접점 증가 신호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추가 케어/지원 우선순위 판단 보조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others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명확한 우선 신호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12529"/>
                          </a:solidFill>
                          <a:latin typeface="NanumGothic" pitchFamily="2" charset="-127"/>
                          <a:ea typeface="NanumGothic" pitchFamily="2" charset="-127"/>
                        </a:rPr>
                        <a:t>monitor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877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lnSpcReduction="10000"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나눔고딕"/>
                <a:ea typeface="나눔고딕"/>
              </a:rPr>
              <a:t>Section 4. Optional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85000" lnSpcReduction="20000"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OCEO · Internal Analyst Training</a:t>
            </a:r>
          </a:p>
        </p:txBody>
      </p:sp>
    </p:spTree>
    <p:extLst>
      <p:ext uri="{BB962C8B-B14F-4D97-AF65-F5344CB8AC3E}">
        <p14:creationId xmlns:p14="http://schemas.microsoft.com/office/powerpoint/2010/main" val="25771887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Clustering / Forecasting /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KMEANS: 행동 세그먼트 가설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ARIMA_PLUS: daily KPI forecast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ML.CONFUSION_MATRIX, ML.ROC_CURVE: threshold trade-off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ML.EXPLAIN_PREDICT, ML.FEATURE_INFO: 해석/품질 점검</a:t>
            </a:r>
          </a:p>
        </p:txBody>
      </p:sp>
    </p:spTree>
    <p:extLst>
      <p:ext uri="{BB962C8B-B14F-4D97-AF65-F5344CB8AC3E}">
        <p14:creationId xmlns:p14="http://schemas.microsoft.com/office/powerpoint/2010/main" val="2912458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실무 적용 시 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Security memo: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BQML은 정답 생성기가 아니라 가설 검증 도구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Feature/Label 설계가 틀리면 결과도 의미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예측 결과는 반드시 액션으로 연결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실제 운영 데이터 적용 시 승인/최소필드/비식별/권한 제한 필요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4355592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본 실습 환경은 synthetic/sample 데이터와 가명 ID 기준이며, 실제 고객/개인 데이터 및 credential은 포함하지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6225003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7"/>
          <p:cNvSpPr txBox="1">
            <a:spLocks noGrp="1"/>
          </p:cNvSpPr>
          <p:nvPr>
            <p:ph type="title"/>
          </p:nvPr>
        </p:nvSpPr>
        <p:spPr>
          <a:xfrm>
            <a:off x="866100" y="2044800"/>
            <a:ext cx="9748400" cy="2768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US">
                <a:solidFill>
                  <a:schemeClr val="lt1"/>
                </a:solidFill>
                <a:latin typeface="Aptos"/>
              </a:rPr>
              <a:t>Demo 3)</a:t>
            </a:r>
            <a:br>
              <a:rPr lang="en-US">
                <a:solidFill>
                  <a:schemeClr val="lt1"/>
                </a:solidFill>
              </a:rPr>
            </a:br>
            <a:r>
              <a:rPr lang="en-US">
                <a:solidFill>
                  <a:schemeClr val="lt1"/>
                </a:solidFill>
                <a:latin typeface="Aptos"/>
              </a:rPr>
              <a:t>BigQuery API 를 활용한</a:t>
            </a:r>
            <a:br>
              <a:rPr lang="en-US">
                <a:solidFill>
                  <a:schemeClr val="lt1"/>
                </a:solidFill>
              </a:rPr>
            </a:br>
            <a:r>
              <a:rPr lang="en-US">
                <a:solidFill>
                  <a:schemeClr val="lt1"/>
                </a:solidFill>
                <a:latin typeface="Aptos"/>
              </a:rPr>
              <a:t>마케팅 자동화 데모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8"/>
          <p:cNvSpPr txBox="1">
            <a:spLocks noGrp="1"/>
          </p:cNvSpPr>
          <p:nvPr>
            <p:ph type="title"/>
          </p:nvPr>
        </p:nvSpPr>
        <p:spPr>
          <a:xfrm>
            <a:off x="896000" y="609600"/>
            <a:ext cx="10305600" cy="44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7700" tIns="117700" rIns="117700" bIns="117700" rtlCol="0" anchor="ctr" anchorCtr="0">
            <a:noAutofit/>
          </a:bodyPr>
          <a:lstStyle/>
          <a:p>
            <a:r>
              <a:rPr lang="en-US" b="1" sz="2600">
                <a:solidFill>
                  <a:srgbClr val="1A283A"/>
                </a:solidFill>
                <a:latin typeface="Aptos Display"/>
              </a:rPr>
              <a:t>BigQuery를 이용한 추천상품 생성</a:t>
            </a:r>
            <a:endParaRPr sz="1867"/>
          </a:p>
        </p:txBody>
      </p:sp>
      <p:pic>
        <p:nvPicPr>
          <p:cNvPr id="347" name="Google Shape;347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7700" y="0"/>
            <a:ext cx="122296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8"/>
          <p:cNvSpPr/>
          <p:nvPr/>
        </p:nvSpPr>
        <p:spPr>
          <a:xfrm>
            <a:off x="7609200" y="-37267"/>
            <a:ext cx="4582800" cy="6904000"/>
          </a:xfrm>
          <a:prstGeom prst="rect">
            <a:avLst/>
          </a:prstGeom>
          <a:solidFill>
            <a:srgbClr val="078402">
              <a:alpha val="79607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8"/>
          <p:cNvSpPr txBox="1"/>
          <p:nvPr/>
        </p:nvSpPr>
        <p:spPr>
          <a:xfrm>
            <a:off x="7930600" y="2255400"/>
            <a:ext cx="39400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32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Everyday</a:t>
            </a:r>
            <a:endParaRPr sz="32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>
              <a:buClr>
                <a:srgbClr val="FFFFFF"/>
              </a:buClr>
              <a:buSzPts val="2400"/>
            </a:pPr>
            <a:r>
              <a:rPr lang="en-US" sz="32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People buy</a:t>
            </a:r>
            <a:endParaRPr sz="32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>
              <a:buClr>
                <a:srgbClr val="FFFFFF"/>
              </a:buClr>
              <a:buSzPts val="2400"/>
            </a:pPr>
            <a:r>
              <a:rPr lang="en-US" sz="32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lots of things</a:t>
            </a:r>
            <a:endParaRPr sz="32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>
              <a:buClr>
                <a:srgbClr val="FFFFFF"/>
              </a:buClr>
              <a:buSzPts val="2400"/>
            </a:pPr>
            <a:r>
              <a:rPr lang="en-US" sz="3200">
                <a:solidFill>
                  <a:srgbClr val="FFFFFF"/>
                </a:solidFill>
                <a:latin typeface="Comfortaa"/>
                <a:ea typeface="Comfortaa"/>
                <a:cs typeface="Comfortaa"/>
                <a:sym typeface="Comfortaa"/>
              </a:rPr>
              <a:t>from your site</a:t>
            </a:r>
            <a:endParaRPr sz="32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>
              <a:buClr>
                <a:srgbClr val="000000"/>
              </a:buClr>
              <a:buSzPts val="2400"/>
            </a:pPr>
            <a:endParaRPr sz="32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9"/>
          <p:cNvSpPr txBox="1">
            <a:spLocks noGrp="1"/>
          </p:cNvSpPr>
          <p:nvPr>
            <p:ph type="title"/>
          </p:nvPr>
        </p:nvSpPr>
        <p:spPr>
          <a:xfrm>
            <a:off x="896000" y="609600"/>
            <a:ext cx="10305600" cy="44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7700" tIns="117700" rIns="117700" bIns="117700" rtlCol="0" anchor="ctr" anchorCtr="0">
            <a:noAutofit/>
          </a:bodyPr>
          <a:lstStyle/>
          <a:p>
            <a:r>
              <a:rPr lang="en-US" b="1" sz="2600">
                <a:solidFill>
                  <a:srgbClr val="1A283A"/>
                </a:solidFill>
                <a:latin typeface="Aptos Display"/>
              </a:rPr>
              <a:t>BigQuery &amp; Spark를 이용한 추천상품 생성</a:t>
            </a:r>
            <a:endParaRPr sz="1867"/>
          </a:p>
        </p:txBody>
      </p:sp>
      <p:pic>
        <p:nvPicPr>
          <p:cNvPr id="355" name="Google Shape;355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38901" y="3633901"/>
            <a:ext cx="3053113" cy="3123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6001" y="3265417"/>
            <a:ext cx="1054167" cy="1063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90649" y="3340040"/>
            <a:ext cx="914467" cy="9144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8" name="Google Shape;358;p59"/>
          <p:cNvCxnSpPr/>
          <p:nvPr/>
        </p:nvCxnSpPr>
        <p:spPr>
          <a:xfrm>
            <a:off x="2051851" y="3834551"/>
            <a:ext cx="6438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359" name="Google Shape;359;p5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72634" y="4466050"/>
            <a:ext cx="749733" cy="749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20567" y="2390733"/>
            <a:ext cx="688400" cy="68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16368" y="4411485"/>
            <a:ext cx="914433" cy="914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5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43834" y="2277701"/>
            <a:ext cx="914433" cy="914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3" name="Google Shape;363;p59"/>
          <p:cNvCxnSpPr>
            <a:endCxn id="359" idx="0"/>
          </p:cNvCxnSpPr>
          <p:nvPr/>
        </p:nvCxnSpPr>
        <p:spPr>
          <a:xfrm flipH="1">
            <a:off x="2847500" y="3943649"/>
            <a:ext cx="5200" cy="52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triangle" w="med" len="med"/>
          </a:ln>
        </p:spPr>
      </p:cxnSp>
      <p:cxnSp>
        <p:nvCxnSpPr>
          <p:cNvPr id="364" name="Google Shape;364;p59"/>
          <p:cNvCxnSpPr/>
          <p:nvPr/>
        </p:nvCxnSpPr>
        <p:spPr>
          <a:xfrm flipH="1">
            <a:off x="5667767" y="3889116"/>
            <a:ext cx="5200" cy="52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triangle" w="med" len="med"/>
          </a:ln>
        </p:spPr>
      </p:cxnSp>
      <p:cxnSp>
        <p:nvCxnSpPr>
          <p:cNvPr id="365" name="Google Shape;365;p59"/>
          <p:cNvCxnSpPr/>
          <p:nvPr/>
        </p:nvCxnSpPr>
        <p:spPr>
          <a:xfrm rot="10800000" flipH="1">
            <a:off x="4163367" y="3182049"/>
            <a:ext cx="2800" cy="54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triangle" w="med" len="med"/>
          </a:ln>
        </p:spPr>
      </p:cxnSp>
      <p:cxnSp>
        <p:nvCxnSpPr>
          <p:cNvPr id="366" name="Google Shape;366;p59"/>
          <p:cNvCxnSpPr/>
          <p:nvPr/>
        </p:nvCxnSpPr>
        <p:spPr>
          <a:xfrm rot="10800000" flipH="1">
            <a:off x="7099633" y="3182033"/>
            <a:ext cx="2800" cy="54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triangle" w="med" len="med"/>
          </a:ln>
        </p:spPr>
      </p:cxnSp>
      <p:sp>
        <p:nvSpPr>
          <p:cNvPr id="367" name="Google Shape;367;p59"/>
          <p:cNvSpPr txBox="1"/>
          <p:nvPr/>
        </p:nvSpPr>
        <p:spPr>
          <a:xfrm>
            <a:off x="690335" y="1236467"/>
            <a:ext cx="63044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700" tIns="58833" rIns="117700" bIns="58833" anchor="t" anchorCtr="0">
            <a:noAutofit/>
          </a:bodyPr>
          <a:lstStyle/>
          <a:p>
            <a:pPr marL="372524" indent="-372524"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고객은 사이트에서 많은 상품을 구매합니다.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0"/>
          <p:cNvSpPr txBox="1">
            <a:spLocks noGrp="1"/>
          </p:cNvSpPr>
          <p:nvPr>
            <p:ph type="title"/>
          </p:nvPr>
        </p:nvSpPr>
        <p:spPr>
          <a:xfrm>
            <a:off x="896000" y="609600"/>
            <a:ext cx="10305600" cy="44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7700" tIns="117700" rIns="117700" bIns="117700" rtlCol="0" anchor="ctr" anchorCtr="0">
            <a:noAutofit/>
          </a:bodyPr>
          <a:lstStyle/>
          <a:p>
            <a:r>
              <a:rPr lang="en-US" b="1" sz="2600">
                <a:solidFill>
                  <a:srgbClr val="1A283A"/>
                </a:solidFill>
                <a:latin typeface="Aptos Display"/>
              </a:rPr>
              <a:t>BigQuery &amp; Spark를 이용한 추천상품 생성</a:t>
            </a:r>
            <a:endParaRPr sz="1867"/>
          </a:p>
        </p:txBody>
      </p:sp>
      <p:cxnSp>
        <p:nvCxnSpPr>
          <p:cNvPr id="373" name="Google Shape;373;p60"/>
          <p:cNvCxnSpPr/>
          <p:nvPr/>
        </p:nvCxnSpPr>
        <p:spPr>
          <a:xfrm>
            <a:off x="768867" y="2368500"/>
            <a:ext cx="5744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4" name="Google Shape;374;p60"/>
          <p:cNvCxnSpPr/>
          <p:nvPr/>
        </p:nvCxnSpPr>
        <p:spPr>
          <a:xfrm>
            <a:off x="1634967" y="1864733"/>
            <a:ext cx="0" cy="378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5" name="Google Shape;375;p60"/>
          <p:cNvSpPr txBox="1"/>
          <p:nvPr/>
        </p:nvSpPr>
        <p:spPr>
          <a:xfrm>
            <a:off x="945633" y="1926600"/>
            <a:ext cx="724800" cy="3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800"/>
            </a:pPr>
            <a:r>
              <a:rPr lang="en-US" sz="10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</a:t>
            </a: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868" y="2558402"/>
            <a:ext cx="353601" cy="35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8867" y="3177000"/>
            <a:ext cx="353600" cy="3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067" y="3795591"/>
            <a:ext cx="441200" cy="4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5067" y="4501800"/>
            <a:ext cx="441200" cy="44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60"/>
          <p:cNvSpPr txBox="1"/>
          <p:nvPr/>
        </p:nvSpPr>
        <p:spPr>
          <a:xfrm>
            <a:off x="1153717" y="2514600"/>
            <a:ext cx="441200" cy="4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4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0"/>
          <p:cNvSpPr txBox="1"/>
          <p:nvPr/>
        </p:nvSpPr>
        <p:spPr>
          <a:xfrm>
            <a:off x="1153717" y="3101900"/>
            <a:ext cx="441200" cy="4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3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60"/>
          <p:cNvSpPr txBox="1"/>
          <p:nvPr/>
        </p:nvSpPr>
        <p:spPr>
          <a:xfrm>
            <a:off x="1153717" y="3801851"/>
            <a:ext cx="441200" cy="4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2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60"/>
          <p:cNvSpPr txBox="1"/>
          <p:nvPr/>
        </p:nvSpPr>
        <p:spPr>
          <a:xfrm>
            <a:off x="1153717" y="4489284"/>
            <a:ext cx="441200" cy="4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2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56868" y="2700202"/>
            <a:ext cx="353601" cy="35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66900" y="3654200"/>
            <a:ext cx="353600" cy="3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59200" y="3610391"/>
            <a:ext cx="441200" cy="4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96333" y="4709700"/>
            <a:ext cx="441200" cy="4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64051" y="4762691"/>
            <a:ext cx="441200" cy="4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26500" y="4709700"/>
            <a:ext cx="441200" cy="44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0"/>
          <p:cNvSpPr/>
          <p:nvPr/>
        </p:nvSpPr>
        <p:spPr>
          <a:xfrm>
            <a:off x="4171267" y="2514600"/>
            <a:ext cx="724800" cy="724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60"/>
          <p:cNvSpPr/>
          <p:nvPr/>
        </p:nvSpPr>
        <p:spPr>
          <a:xfrm>
            <a:off x="2681300" y="3468600"/>
            <a:ext cx="724800" cy="724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60"/>
          <p:cNvSpPr/>
          <p:nvPr/>
        </p:nvSpPr>
        <p:spPr>
          <a:xfrm>
            <a:off x="5417400" y="3468600"/>
            <a:ext cx="724800" cy="724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60"/>
          <p:cNvSpPr/>
          <p:nvPr/>
        </p:nvSpPr>
        <p:spPr>
          <a:xfrm>
            <a:off x="4754533" y="4567900"/>
            <a:ext cx="724800" cy="724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60"/>
          <p:cNvSpPr/>
          <p:nvPr/>
        </p:nvSpPr>
        <p:spPr>
          <a:xfrm>
            <a:off x="3384700" y="4567900"/>
            <a:ext cx="724800" cy="724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60"/>
          <p:cNvSpPr/>
          <p:nvPr/>
        </p:nvSpPr>
        <p:spPr>
          <a:xfrm>
            <a:off x="1922251" y="4620900"/>
            <a:ext cx="724800" cy="724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60"/>
          <p:cNvCxnSpPr>
            <a:stCxn id="390" idx="2"/>
            <a:endCxn id="391" idx="0"/>
          </p:cNvCxnSpPr>
          <p:nvPr/>
        </p:nvCxnSpPr>
        <p:spPr>
          <a:xfrm flipH="1">
            <a:off x="3043667" y="2877000"/>
            <a:ext cx="1127600" cy="59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7" name="Google Shape;397;p60"/>
          <p:cNvCxnSpPr>
            <a:stCxn id="390" idx="6"/>
            <a:endCxn id="392" idx="0"/>
          </p:cNvCxnSpPr>
          <p:nvPr/>
        </p:nvCxnSpPr>
        <p:spPr>
          <a:xfrm>
            <a:off x="4896067" y="2877000"/>
            <a:ext cx="883600" cy="59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8" name="Google Shape;398;p60"/>
          <p:cNvCxnSpPr>
            <a:stCxn id="393" idx="0"/>
            <a:endCxn id="392" idx="3"/>
          </p:cNvCxnSpPr>
          <p:nvPr/>
        </p:nvCxnSpPr>
        <p:spPr>
          <a:xfrm rot="10800000" flipH="1">
            <a:off x="5116933" y="4087100"/>
            <a:ext cx="406800" cy="48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9" name="Google Shape;399;p60"/>
          <p:cNvCxnSpPr>
            <a:stCxn id="394" idx="0"/>
            <a:endCxn id="391" idx="5"/>
          </p:cNvCxnSpPr>
          <p:nvPr/>
        </p:nvCxnSpPr>
        <p:spPr>
          <a:xfrm rot="10800000">
            <a:off x="3299900" y="4087100"/>
            <a:ext cx="447200" cy="48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0" name="Google Shape;400;p60"/>
          <p:cNvCxnSpPr>
            <a:stCxn id="395" idx="0"/>
            <a:endCxn id="391" idx="3"/>
          </p:cNvCxnSpPr>
          <p:nvPr/>
        </p:nvCxnSpPr>
        <p:spPr>
          <a:xfrm rot="10800000" flipH="1">
            <a:off x="2284651" y="4087300"/>
            <a:ext cx="502800" cy="53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1" name="Google Shape;401;p60"/>
          <p:cNvSpPr txBox="1"/>
          <p:nvPr/>
        </p:nvSpPr>
        <p:spPr>
          <a:xfrm>
            <a:off x="1780433" y="1926600"/>
            <a:ext cx="724800" cy="3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800"/>
            </a:pPr>
            <a:r>
              <a:rPr lang="en-US" sz="10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8468" y="2725935"/>
            <a:ext cx="353601" cy="35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98467" y="3503567"/>
            <a:ext cx="353600" cy="3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98467" y="4281191"/>
            <a:ext cx="441200" cy="4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53968" y="2741551"/>
            <a:ext cx="353601" cy="35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53967" y="3519183"/>
            <a:ext cx="353600" cy="3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10167" y="4265484"/>
            <a:ext cx="441200" cy="4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5968" y="2769718"/>
            <a:ext cx="353601" cy="35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65967" y="3547349"/>
            <a:ext cx="353600" cy="3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1868" y="2769718"/>
            <a:ext cx="353601" cy="35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78067" y="3503557"/>
            <a:ext cx="441200" cy="4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778067" y="4324984"/>
            <a:ext cx="441200" cy="441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60"/>
          <p:cNvCxnSpPr/>
          <p:nvPr/>
        </p:nvCxnSpPr>
        <p:spPr>
          <a:xfrm>
            <a:off x="7671067" y="2394467"/>
            <a:ext cx="3641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4" name="Google Shape;414;p60"/>
          <p:cNvCxnSpPr/>
          <p:nvPr/>
        </p:nvCxnSpPr>
        <p:spPr>
          <a:xfrm>
            <a:off x="8448767" y="1846349"/>
            <a:ext cx="0" cy="308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5" name="Google Shape;415;p60"/>
          <p:cNvCxnSpPr/>
          <p:nvPr/>
        </p:nvCxnSpPr>
        <p:spPr>
          <a:xfrm>
            <a:off x="9526867" y="1837857"/>
            <a:ext cx="0" cy="309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6" name="Google Shape;416;p60"/>
          <p:cNvCxnSpPr/>
          <p:nvPr/>
        </p:nvCxnSpPr>
        <p:spPr>
          <a:xfrm>
            <a:off x="10543133" y="1829367"/>
            <a:ext cx="0" cy="310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17" name="Google Shape;417;p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9167" y="1898533"/>
            <a:ext cx="447200" cy="4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1667" y="1898533"/>
            <a:ext cx="447200" cy="4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07167" y="1898533"/>
            <a:ext cx="447200" cy="4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75067" y="1898533"/>
            <a:ext cx="447200" cy="4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1"/>
          <p:cNvSpPr txBox="1">
            <a:spLocks noGrp="1"/>
          </p:cNvSpPr>
          <p:nvPr>
            <p:ph type="title"/>
          </p:nvPr>
        </p:nvSpPr>
        <p:spPr>
          <a:xfrm>
            <a:off x="896000" y="609600"/>
            <a:ext cx="10305600" cy="44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7700" tIns="117700" rIns="117700" bIns="117700" rtlCol="0" anchor="ctr" anchorCtr="0">
            <a:noAutofit/>
          </a:bodyPr>
          <a:lstStyle/>
          <a:p>
            <a:r>
              <a:rPr lang="en-US" b="1" sz="2600">
                <a:solidFill>
                  <a:srgbClr val="1A283A"/>
                </a:solidFill>
                <a:latin typeface="Aptos Display"/>
              </a:rPr>
              <a:t>BigQuery &amp; Spark를 이용한 추천상품 생성</a:t>
            </a:r>
            <a:endParaRPr sz="1867"/>
          </a:p>
        </p:txBody>
      </p:sp>
      <p:pic>
        <p:nvPicPr>
          <p:cNvPr id="426" name="Google Shape;426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8034" y="4726869"/>
            <a:ext cx="353601" cy="35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1433" y="4726867"/>
            <a:ext cx="353600" cy="3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74833" y="4683057"/>
            <a:ext cx="441200" cy="4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8034" y="5366718"/>
            <a:ext cx="353601" cy="35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1433" y="5366749"/>
            <a:ext cx="353600" cy="3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6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74833" y="5322917"/>
            <a:ext cx="441200" cy="4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8034" y="4086985"/>
            <a:ext cx="353601" cy="35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1433" y="4087016"/>
            <a:ext cx="353600" cy="3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28034" y="6006585"/>
            <a:ext cx="353601" cy="35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57633" y="5962791"/>
            <a:ext cx="441200" cy="4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6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74833" y="5962784"/>
            <a:ext cx="441200" cy="441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7" name="Google Shape;437;p61"/>
          <p:cNvCxnSpPr/>
          <p:nvPr/>
        </p:nvCxnSpPr>
        <p:spPr>
          <a:xfrm>
            <a:off x="1824867" y="3928333"/>
            <a:ext cx="0" cy="252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8" name="Google Shape;438;p61"/>
          <p:cNvCxnSpPr/>
          <p:nvPr/>
        </p:nvCxnSpPr>
        <p:spPr>
          <a:xfrm>
            <a:off x="1112933" y="4573500"/>
            <a:ext cx="3133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39" name="Google Shape;439;p6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74500" y="4070533"/>
            <a:ext cx="447200" cy="4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6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74500" y="4710400"/>
            <a:ext cx="447200" cy="4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6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74500" y="5350267"/>
            <a:ext cx="447200" cy="4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6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74500" y="5990133"/>
            <a:ext cx="447200" cy="44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61"/>
          <p:cNvPicPr preferRelativeResize="0"/>
          <p:nvPr/>
        </p:nvPicPr>
        <p:blipFill rotWithShape="1">
          <a:blip r:embed="rId8">
            <a:alphaModFix/>
          </a:blip>
          <a:srcRect l="22421" t="25218" r="24395" b="22088"/>
          <a:stretch/>
        </p:blipFill>
        <p:spPr>
          <a:xfrm>
            <a:off x="1060200" y="2116064"/>
            <a:ext cx="1016635" cy="100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6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269901" y="2194139"/>
            <a:ext cx="959833" cy="851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5" name="Google Shape;445;p61"/>
          <p:cNvCxnSpPr>
            <a:stCxn id="443" idx="3"/>
            <a:endCxn id="444" idx="1"/>
          </p:cNvCxnSpPr>
          <p:nvPr/>
        </p:nvCxnSpPr>
        <p:spPr>
          <a:xfrm>
            <a:off x="2076835" y="2619697"/>
            <a:ext cx="119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6" name="Google Shape;446;p61"/>
          <p:cNvSpPr txBox="1"/>
          <p:nvPr/>
        </p:nvSpPr>
        <p:spPr>
          <a:xfrm>
            <a:off x="2076833" y="2280100"/>
            <a:ext cx="11932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800"/>
            </a:pPr>
            <a:r>
              <a:rPr lang="en-US" sz="10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Purchase Data</a:t>
            </a: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61"/>
          <p:cNvSpPr txBox="1"/>
          <p:nvPr/>
        </p:nvSpPr>
        <p:spPr>
          <a:xfrm>
            <a:off x="868067" y="3545933"/>
            <a:ext cx="42396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700" tIns="58833" rIns="117700" bIns="58833" anchor="t" anchorCtr="0">
            <a:noAutofit/>
          </a:bodyPr>
          <a:lstStyle/>
          <a:p>
            <a:pPr>
              <a:buClr>
                <a:srgbClr val="000000"/>
              </a:buClr>
              <a:buSzPts val="1200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고객별, 시간별로 구매 상품을 정리할 수 있음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8" name="Google Shape;448;p61"/>
          <p:cNvCxnSpPr/>
          <p:nvPr/>
        </p:nvCxnSpPr>
        <p:spPr>
          <a:xfrm>
            <a:off x="1112933" y="5253933"/>
            <a:ext cx="3133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9" name="Google Shape;449;p61"/>
          <p:cNvCxnSpPr/>
          <p:nvPr/>
        </p:nvCxnSpPr>
        <p:spPr>
          <a:xfrm>
            <a:off x="1112933" y="5899033"/>
            <a:ext cx="3133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0" name="Google Shape;450;p61"/>
          <p:cNvCxnSpPr/>
          <p:nvPr/>
        </p:nvCxnSpPr>
        <p:spPr>
          <a:xfrm flipH="1">
            <a:off x="733667" y="3048933"/>
            <a:ext cx="2766000" cy="57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1" name="Google Shape;451;p61"/>
          <p:cNvCxnSpPr/>
          <p:nvPr/>
        </p:nvCxnSpPr>
        <p:spPr>
          <a:xfrm>
            <a:off x="3994467" y="3057733"/>
            <a:ext cx="795600" cy="68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52" name="Google Shape;452;p6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523434" y="2080701"/>
            <a:ext cx="1095932" cy="1095932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61"/>
          <p:cNvSpPr txBox="1"/>
          <p:nvPr/>
        </p:nvSpPr>
        <p:spPr>
          <a:xfrm>
            <a:off x="5422800" y="3176633"/>
            <a:ext cx="1297200" cy="2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700" tIns="58833" rIns="117700" bIns="58833" anchor="t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US" sz="10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Association rules</a:t>
            </a: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" name="Google Shape;454;p61"/>
          <p:cNvCxnSpPr>
            <a:stCxn id="444" idx="3"/>
            <a:endCxn id="452" idx="1"/>
          </p:cNvCxnSpPr>
          <p:nvPr/>
        </p:nvCxnSpPr>
        <p:spPr>
          <a:xfrm>
            <a:off x="4229733" y="2619689"/>
            <a:ext cx="1293600" cy="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455" name="Google Shape;455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4534" y="2119769"/>
            <a:ext cx="353601" cy="35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5533" y="2119767"/>
            <a:ext cx="353600" cy="3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64567" y="2715824"/>
            <a:ext cx="441200" cy="4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37934" y="2759618"/>
            <a:ext cx="353601" cy="35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85534" y="1479885"/>
            <a:ext cx="353601" cy="35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5533" y="2759649"/>
            <a:ext cx="353600" cy="3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64567" y="1436091"/>
            <a:ext cx="441200" cy="4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6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94133" y="1436084"/>
            <a:ext cx="441200" cy="4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6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68170" y="4206534"/>
            <a:ext cx="4091700" cy="246983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cxnSp>
        <p:nvCxnSpPr>
          <p:cNvPr id="464" name="Google Shape;464;p61"/>
          <p:cNvCxnSpPr>
            <a:stCxn id="452" idx="3"/>
            <a:endCxn id="461" idx="1"/>
          </p:cNvCxnSpPr>
          <p:nvPr/>
        </p:nvCxnSpPr>
        <p:spPr>
          <a:xfrm rot="10800000" flipH="1">
            <a:off x="6619365" y="1656667"/>
            <a:ext cx="1745200" cy="972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5" name="Google Shape;465;p61"/>
          <p:cNvCxnSpPr>
            <a:stCxn id="452" idx="3"/>
            <a:endCxn id="455" idx="1"/>
          </p:cNvCxnSpPr>
          <p:nvPr/>
        </p:nvCxnSpPr>
        <p:spPr>
          <a:xfrm rot="10800000" flipH="1">
            <a:off x="6619365" y="2296667"/>
            <a:ext cx="1745200" cy="3320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6" name="Google Shape;466;p61"/>
          <p:cNvCxnSpPr>
            <a:stCxn id="452" idx="3"/>
            <a:endCxn id="457" idx="1"/>
          </p:cNvCxnSpPr>
          <p:nvPr/>
        </p:nvCxnSpPr>
        <p:spPr>
          <a:xfrm>
            <a:off x="6619365" y="2628667"/>
            <a:ext cx="1745200" cy="307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7" name="Google Shape;467;p61"/>
          <p:cNvCxnSpPr/>
          <p:nvPr/>
        </p:nvCxnSpPr>
        <p:spPr>
          <a:xfrm>
            <a:off x="9703700" y="1670300"/>
            <a:ext cx="645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68" name="Google Shape;468;p61"/>
          <p:cNvSpPr txBox="1"/>
          <p:nvPr/>
        </p:nvSpPr>
        <p:spPr>
          <a:xfrm>
            <a:off x="11064733" y="1438500"/>
            <a:ext cx="742400" cy="4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9" name="Google Shape;469;p61"/>
          <p:cNvCxnSpPr/>
          <p:nvPr/>
        </p:nvCxnSpPr>
        <p:spPr>
          <a:xfrm>
            <a:off x="8921300" y="2296567"/>
            <a:ext cx="142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0" name="Google Shape;470;p61"/>
          <p:cNvSpPr txBox="1"/>
          <p:nvPr/>
        </p:nvSpPr>
        <p:spPr>
          <a:xfrm>
            <a:off x="11143936" y="2071567"/>
            <a:ext cx="584000" cy="4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p61"/>
          <p:cNvCxnSpPr/>
          <p:nvPr/>
        </p:nvCxnSpPr>
        <p:spPr>
          <a:xfrm>
            <a:off x="9703700" y="2936433"/>
            <a:ext cx="645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2" name="Google Shape;472;p61"/>
          <p:cNvSpPr txBox="1"/>
          <p:nvPr/>
        </p:nvSpPr>
        <p:spPr>
          <a:xfrm>
            <a:off x="11143933" y="2704633"/>
            <a:ext cx="584000" cy="4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61"/>
          <p:cNvSpPr txBox="1"/>
          <p:nvPr/>
        </p:nvSpPr>
        <p:spPr>
          <a:xfrm>
            <a:off x="9175717" y="2956317"/>
            <a:ext cx="278000" cy="8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4" name="Google Shape;474;p61"/>
          <p:cNvCxnSpPr>
            <a:stCxn id="452" idx="3"/>
          </p:cNvCxnSpPr>
          <p:nvPr/>
        </p:nvCxnSpPr>
        <p:spPr>
          <a:xfrm>
            <a:off x="6619365" y="2628667"/>
            <a:ext cx="1741200" cy="941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2"/>
          <p:cNvSpPr/>
          <p:nvPr/>
        </p:nvSpPr>
        <p:spPr>
          <a:xfrm>
            <a:off x="5990167" y="1377267"/>
            <a:ext cx="5433600" cy="51600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62"/>
          <p:cNvSpPr/>
          <p:nvPr/>
        </p:nvSpPr>
        <p:spPr>
          <a:xfrm>
            <a:off x="556567" y="1377267"/>
            <a:ext cx="5433600" cy="516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62"/>
          <p:cNvSpPr txBox="1">
            <a:spLocks noGrp="1"/>
          </p:cNvSpPr>
          <p:nvPr>
            <p:ph type="title"/>
          </p:nvPr>
        </p:nvSpPr>
        <p:spPr>
          <a:xfrm>
            <a:off x="896000" y="609600"/>
            <a:ext cx="10305600" cy="44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7700" tIns="117700" rIns="117700" bIns="117700" rtlCol="0" anchor="ctr" anchorCtr="0">
            <a:noAutofit/>
          </a:bodyPr>
          <a:lstStyle/>
          <a:p>
            <a:r>
              <a:rPr lang="en-US" b="1" sz="2600">
                <a:solidFill>
                  <a:srgbClr val="1A283A"/>
                </a:solidFill>
                <a:latin typeface="Aptos Display"/>
              </a:rPr>
              <a:t>BigQuery &amp; Spark를 이용한 추천상품 생성</a:t>
            </a:r>
            <a:endParaRPr sz="1867"/>
          </a:p>
        </p:txBody>
      </p:sp>
      <p:pic>
        <p:nvPicPr>
          <p:cNvPr id="482" name="Google Shape;482;p62"/>
          <p:cNvPicPr preferRelativeResize="0"/>
          <p:nvPr/>
        </p:nvPicPr>
        <p:blipFill rotWithShape="1">
          <a:blip r:embed="rId3">
            <a:alphaModFix/>
          </a:blip>
          <a:srcRect l="22421" t="25218" r="24395" b="22088"/>
          <a:stretch/>
        </p:blipFill>
        <p:spPr>
          <a:xfrm>
            <a:off x="124734" y="1050797"/>
            <a:ext cx="1016633" cy="100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93450" y="1546855"/>
            <a:ext cx="959833" cy="851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4" name="Google Shape;484;p62"/>
          <p:cNvCxnSpPr>
            <a:stCxn id="483" idx="3"/>
            <a:endCxn id="485" idx="1"/>
          </p:cNvCxnSpPr>
          <p:nvPr/>
        </p:nvCxnSpPr>
        <p:spPr>
          <a:xfrm>
            <a:off x="3753283" y="1972405"/>
            <a:ext cx="4405600" cy="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486" name="Google Shape;486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58584" y="649184"/>
            <a:ext cx="2105632" cy="109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6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1351" y="2520367"/>
            <a:ext cx="4264003" cy="355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6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59001" y="1433867"/>
            <a:ext cx="1095932" cy="1095932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62"/>
          <p:cNvSpPr txBox="1"/>
          <p:nvPr/>
        </p:nvSpPr>
        <p:spPr>
          <a:xfrm>
            <a:off x="8058367" y="2529800"/>
            <a:ext cx="1297200" cy="2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700" tIns="58833" rIns="117700" bIns="58833" anchor="t" anchorCtr="0">
            <a:noAutofit/>
          </a:bodyPr>
          <a:lstStyle/>
          <a:p>
            <a:pPr algn="ctr">
              <a:buClr>
                <a:srgbClr val="000000"/>
              </a:buClr>
              <a:buSzPts val="800"/>
            </a:pPr>
            <a:r>
              <a:rPr lang="en-US" sz="10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Association rules</a:t>
            </a: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9" name="Google Shape;489;p62"/>
          <p:cNvPicPr preferRelativeResize="0"/>
          <p:nvPr/>
        </p:nvPicPr>
        <p:blipFill rotWithShape="1">
          <a:blip r:embed="rId8">
            <a:alphaModFix/>
          </a:blip>
          <a:srcRect r="20773"/>
          <a:stretch/>
        </p:blipFill>
        <p:spPr>
          <a:xfrm>
            <a:off x="6196269" y="2997500"/>
            <a:ext cx="5021367" cy="2600133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62"/>
          <p:cNvSpPr txBox="1"/>
          <p:nvPr/>
        </p:nvSpPr>
        <p:spPr>
          <a:xfrm>
            <a:off x="1761167" y="6074767"/>
            <a:ext cx="30244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CID와 Date를 기준으로 Product 추출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62"/>
          <p:cNvSpPr txBox="1"/>
          <p:nvPr/>
        </p:nvSpPr>
        <p:spPr>
          <a:xfrm>
            <a:off x="7082951" y="6065333"/>
            <a:ext cx="3248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Spark의 MLlib을 통한 추천상품 추출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2" name="Google Shape;492;p6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58367" y="3286801"/>
            <a:ext cx="2570567" cy="267136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3"/>
          <p:cNvSpPr/>
          <p:nvPr/>
        </p:nvSpPr>
        <p:spPr>
          <a:xfrm>
            <a:off x="6569933" y="2335333"/>
            <a:ext cx="4777600" cy="2145200"/>
          </a:xfrm>
          <a:prstGeom prst="roundRect">
            <a:avLst>
              <a:gd name="adj" fmla="val 16667"/>
            </a:avLst>
          </a:prstGeom>
          <a:solidFill>
            <a:srgbClr val="FFC000">
              <a:alpha val="2000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indent="761981">
              <a:lnSpc>
                <a:spcPct val="115000"/>
              </a:lnSpc>
              <a:buClr>
                <a:srgbClr val="000000"/>
              </a:buClr>
              <a:buSzPts val="1100"/>
            </a:pP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8" name="Google Shape;498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4134" y="2796303"/>
            <a:ext cx="548133" cy="548133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63"/>
          <p:cNvSpPr txBox="1">
            <a:spLocks noGrp="1"/>
          </p:cNvSpPr>
          <p:nvPr>
            <p:ph type="title"/>
          </p:nvPr>
        </p:nvSpPr>
        <p:spPr>
          <a:xfrm>
            <a:off x="896000" y="609600"/>
            <a:ext cx="10305600" cy="44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7700" tIns="117700" rIns="117700" bIns="117700" rtlCol="0" anchor="ctr" anchorCtr="0">
            <a:noAutofit/>
          </a:bodyPr>
          <a:lstStyle/>
          <a:p>
            <a:r>
              <a:rPr lang="en-US" b="1" sz="2600">
                <a:solidFill>
                  <a:srgbClr val="1A283A"/>
                </a:solidFill>
                <a:latin typeface="Aptos Display"/>
              </a:rPr>
              <a:t>BigQuery 를 이용한 카테고리별 Top 10 상품 추출</a:t>
            </a:r>
            <a:endParaRPr sz="1867"/>
          </a:p>
        </p:txBody>
      </p:sp>
      <p:pic>
        <p:nvPicPr>
          <p:cNvPr id="500" name="Google Shape;500;p63"/>
          <p:cNvPicPr preferRelativeResize="0"/>
          <p:nvPr/>
        </p:nvPicPr>
        <p:blipFill rotWithShape="1">
          <a:blip r:embed="rId4">
            <a:alphaModFix/>
          </a:blip>
          <a:srcRect l="22421" t="25218" r="24395" b="22088"/>
          <a:stretch/>
        </p:blipFill>
        <p:spPr>
          <a:xfrm>
            <a:off x="6703984" y="2965014"/>
            <a:ext cx="1016633" cy="1007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6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6001" y="2936783"/>
            <a:ext cx="1054167" cy="1063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6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99001" y="2835178"/>
            <a:ext cx="1266967" cy="1266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3" name="Google Shape;503;p63"/>
          <p:cNvCxnSpPr/>
          <p:nvPr/>
        </p:nvCxnSpPr>
        <p:spPr>
          <a:xfrm>
            <a:off x="2056233" y="3468632"/>
            <a:ext cx="1048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4" name="Google Shape;504;p63"/>
          <p:cNvCxnSpPr>
            <a:stCxn id="505" idx="3"/>
            <a:endCxn id="500" idx="1"/>
          </p:cNvCxnSpPr>
          <p:nvPr/>
        </p:nvCxnSpPr>
        <p:spPr>
          <a:xfrm>
            <a:off x="5630367" y="3468617"/>
            <a:ext cx="1073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506" name="Google Shape;506;p6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7600" y="4378834"/>
            <a:ext cx="770933" cy="77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7" name="Google Shape;507;p63"/>
          <p:cNvCxnSpPr>
            <a:stCxn id="506" idx="3"/>
          </p:cNvCxnSpPr>
          <p:nvPr/>
        </p:nvCxnSpPr>
        <p:spPr>
          <a:xfrm rot="10800000" flipH="1">
            <a:off x="1808533" y="3910300"/>
            <a:ext cx="1134400" cy="85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08" name="Google Shape;508;p63"/>
          <p:cNvSpPr txBox="1"/>
          <p:nvPr/>
        </p:nvSpPr>
        <p:spPr>
          <a:xfrm>
            <a:off x="636484" y="5175300"/>
            <a:ext cx="15732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SzPts val="900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CRM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63"/>
          <p:cNvSpPr txBox="1"/>
          <p:nvPr/>
        </p:nvSpPr>
        <p:spPr>
          <a:xfrm>
            <a:off x="4265967" y="2717417"/>
            <a:ext cx="1364400" cy="15024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성별: 여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나이: 30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등급: 우수회원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자녀유무 : 관련 상품 구매이력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9" name="Google Shape;509;p6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flipH="1">
            <a:off x="5248571" y="2423174"/>
            <a:ext cx="678715" cy="678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6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14801" y="2885339"/>
            <a:ext cx="959833" cy="8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6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47166" y="2796299"/>
            <a:ext cx="1344636" cy="1344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2" name="Google Shape;512;p63"/>
          <p:cNvCxnSpPr>
            <a:endCxn id="511" idx="1"/>
          </p:cNvCxnSpPr>
          <p:nvPr/>
        </p:nvCxnSpPr>
        <p:spPr>
          <a:xfrm>
            <a:off x="8501965" y="3459832"/>
            <a:ext cx="1245200" cy="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3" name="Google Shape;513;p63"/>
          <p:cNvSpPr txBox="1"/>
          <p:nvPr/>
        </p:nvSpPr>
        <p:spPr>
          <a:xfrm>
            <a:off x="690332" y="1236467"/>
            <a:ext cx="97736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700" tIns="58833" rIns="117700" bIns="58833" anchor="t" anchorCtr="0">
            <a:noAutofit/>
          </a:bodyPr>
          <a:lstStyle/>
          <a:p>
            <a:pPr marL="372524" indent="-372524"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사용자의 사이트 내 결제완료 데이터 수집 간 성별, 나이, 등급 등 다양한 조건을 통해 상품을 추출할 수</a:t>
            </a:r>
            <a:b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있도록 데이터를 수집합니다.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72524" indent="-372524"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수집한 데이터는 Bigquery API를 통해 Python으로 직접 내려받아 정렬된 데이터를 추출합니다.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63"/>
          <p:cNvSpPr txBox="1"/>
          <p:nvPr/>
        </p:nvSpPr>
        <p:spPr>
          <a:xfrm>
            <a:off x="8497300" y="3132000"/>
            <a:ext cx="11932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800"/>
            </a:pPr>
            <a:r>
              <a:rPr lang="en-US" sz="10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Bigquery API</a:t>
            </a: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63"/>
          <p:cNvSpPr/>
          <p:nvPr/>
        </p:nvSpPr>
        <p:spPr>
          <a:xfrm>
            <a:off x="6734233" y="4219833"/>
            <a:ext cx="2092526" cy="392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r>
              <a:rPr 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추천피드 생성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4"/>
          <p:cNvSpPr/>
          <p:nvPr/>
        </p:nvSpPr>
        <p:spPr>
          <a:xfrm>
            <a:off x="5990167" y="1377267"/>
            <a:ext cx="5433600" cy="51600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64"/>
          <p:cNvSpPr/>
          <p:nvPr/>
        </p:nvSpPr>
        <p:spPr>
          <a:xfrm>
            <a:off x="556567" y="1377267"/>
            <a:ext cx="5433600" cy="516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64"/>
          <p:cNvSpPr txBox="1">
            <a:spLocks noGrp="1"/>
          </p:cNvSpPr>
          <p:nvPr>
            <p:ph type="title"/>
          </p:nvPr>
        </p:nvSpPr>
        <p:spPr>
          <a:xfrm>
            <a:off x="896000" y="609600"/>
            <a:ext cx="10305600" cy="44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7700" tIns="117700" rIns="117700" bIns="117700" rtlCol="0" anchor="ctr" anchorCtr="0">
            <a:noAutofit/>
          </a:bodyPr>
          <a:lstStyle/>
          <a:p>
            <a:r>
              <a:rPr lang="en-US" b="1" sz="2600">
                <a:solidFill>
                  <a:srgbClr val="1A283A"/>
                </a:solidFill>
                <a:latin typeface="Aptos Display"/>
              </a:rPr>
              <a:t>BigQuery 를 이용한 카테고리별 Top 10 상품 추출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3" name="Google Shape;523;p64"/>
          <p:cNvSpPr txBox="1"/>
          <p:nvPr/>
        </p:nvSpPr>
        <p:spPr>
          <a:xfrm>
            <a:off x="1761167" y="6074767"/>
            <a:ext cx="30244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Python을 통한 Query 실행 및 정렬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64"/>
          <p:cNvSpPr txBox="1"/>
          <p:nvPr/>
        </p:nvSpPr>
        <p:spPr>
          <a:xfrm>
            <a:off x="7082951" y="6065333"/>
            <a:ext cx="3248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Python을 통해 추출한 엑셀 결과 파일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5" name="Google Shape;525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966" y="781299"/>
            <a:ext cx="1344636" cy="1344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5072" y="1995318"/>
            <a:ext cx="3896600" cy="3923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20401" y="781314"/>
            <a:ext cx="1194433" cy="1194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64"/>
          <p:cNvPicPr preferRelativeResize="0"/>
          <p:nvPr/>
        </p:nvPicPr>
        <p:blipFill rotWithShape="1">
          <a:blip r:embed="rId6">
            <a:alphaModFix/>
          </a:blip>
          <a:srcRect r="25622" b="15081"/>
          <a:stretch/>
        </p:blipFill>
        <p:spPr>
          <a:xfrm>
            <a:off x="6302933" y="1995332"/>
            <a:ext cx="4808067" cy="3799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5"/>
          <p:cNvSpPr txBox="1">
            <a:spLocks noGrp="1"/>
          </p:cNvSpPr>
          <p:nvPr>
            <p:ph type="title"/>
          </p:nvPr>
        </p:nvSpPr>
        <p:spPr>
          <a:xfrm>
            <a:off x="896000" y="609600"/>
            <a:ext cx="10305600" cy="44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7700" tIns="117700" rIns="117700" bIns="117700" rtlCol="0" anchor="ctr" anchorCtr="0">
            <a:noAutofit/>
          </a:bodyPr>
          <a:lstStyle/>
          <a:p>
            <a:r>
              <a:rPr lang="en-US" sz="3200" b="1">
                <a:solidFill>
                  <a:srgbClr val="1A283A"/>
                </a:solidFill>
                <a:latin typeface="Aptos Display"/>
              </a:rPr>
              <a:t>참고. BigQuery 활용의 어려움 </a:t>
            </a:r>
            <a:endParaRPr sz="3200"/>
          </a:p>
        </p:txBody>
      </p:sp>
      <p:grpSp>
        <p:nvGrpSpPr>
          <p:cNvPr id="534" name="Google Shape;534;p65"/>
          <p:cNvGrpSpPr/>
          <p:nvPr/>
        </p:nvGrpSpPr>
        <p:grpSpPr>
          <a:xfrm>
            <a:off x="448025" y="2245614"/>
            <a:ext cx="5755401" cy="4097999"/>
            <a:chOff x="374785" y="2115696"/>
            <a:chExt cx="3948547" cy="2571750"/>
          </a:xfrm>
        </p:grpSpPr>
        <p:pic>
          <p:nvPicPr>
            <p:cNvPr id="535" name="Google Shape;535;p6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74785" y="2115696"/>
              <a:ext cx="3948547" cy="257175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536" name="Google Shape;536;p65"/>
            <p:cNvSpPr/>
            <p:nvPr/>
          </p:nvSpPr>
          <p:spPr>
            <a:xfrm>
              <a:off x="1759529" y="2634582"/>
              <a:ext cx="2556000" cy="715200"/>
            </a:xfrm>
            <a:prstGeom prst="rect">
              <a:avLst/>
            </a:prstGeom>
            <a:solidFill>
              <a:schemeClr val="accent1">
                <a:alpha val="27450"/>
              </a:schemeClr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65"/>
            <p:cNvSpPr txBox="1"/>
            <p:nvPr/>
          </p:nvSpPr>
          <p:spPr>
            <a:xfrm>
              <a:off x="2976974" y="2388361"/>
              <a:ext cx="1338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>
                <a:buClr>
                  <a:srgbClr val="FF0000"/>
                </a:buClr>
                <a:buSzPts val="1000"/>
              </a:pPr>
              <a:r>
                <a:rPr lang="en-US" sz="1333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SQL 구문 입력 필요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" name="Google Shape;538;p65"/>
          <p:cNvSpPr/>
          <p:nvPr/>
        </p:nvSpPr>
        <p:spPr>
          <a:xfrm>
            <a:off x="555149" y="1468273"/>
            <a:ext cx="11296000" cy="1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700" tIns="58833" rIns="117700" bIns="58833" anchor="t" anchorCtr="0">
            <a:noAutofit/>
          </a:bodyPr>
          <a:lstStyle/>
          <a:p>
            <a:pPr marL="372524" indent="-372524">
              <a:lnSpc>
                <a:spcPct val="150000"/>
              </a:lnSpc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600">
                <a:solidFill>
                  <a:srgbClr val="2E2E2E"/>
                </a:solidFill>
                <a:latin typeface="Arial"/>
                <a:ea typeface="Arial"/>
                <a:cs typeface="Arial"/>
                <a:sym typeface="Arial"/>
              </a:rPr>
              <a:t>SQL 구문 전체를 정확히 입력해야만 결과 데이터를 얻을 수 있음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65"/>
          <p:cNvSpPr/>
          <p:nvPr/>
        </p:nvSpPr>
        <p:spPr>
          <a:xfrm>
            <a:off x="6384172" y="2197500"/>
            <a:ext cx="5466800" cy="4150400"/>
          </a:xfrm>
          <a:prstGeom prst="roundRect">
            <a:avLst>
              <a:gd name="adj" fmla="val 8542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FF"/>
              </a:buClr>
              <a:buSzPts val="1200"/>
            </a:pPr>
            <a:r>
              <a:rPr lang="en-US" sz="1600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SELECT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434343"/>
              </a:buClr>
              <a:buSzPts val="1200"/>
            </a:pPr>
            <a:r>
              <a:rPr lang="en-US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device.browser </a:t>
            </a:r>
            <a:r>
              <a:rPr lang="en-US" sz="1600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 </a:t>
            </a:r>
            <a:r>
              <a:rPr lang="en-US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browsers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434343"/>
              </a:buClr>
              <a:buSzPts val="1200"/>
            </a:pPr>
            <a:r>
              <a:rPr lang="en-US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600" b="1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SUM</a:t>
            </a:r>
            <a:r>
              <a:rPr lang="en-US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(totals.pageviews) </a:t>
            </a:r>
            <a:r>
              <a:rPr lang="en-US" sz="1600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AS </a:t>
            </a:r>
            <a:r>
              <a:rPr lang="en-US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pageviews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0000FF"/>
              </a:buClr>
              <a:buSzPts val="1200"/>
            </a:pPr>
            <a:r>
              <a:rPr lang="en-US" sz="1600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FROM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434343"/>
              </a:buClr>
              <a:buSzPts val="1200"/>
            </a:pPr>
            <a:r>
              <a:rPr lang="en-US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`datalicious.123456789.ga_sessions_*`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FF"/>
              </a:buClr>
              <a:buSzPts val="1200"/>
            </a:pPr>
            <a:r>
              <a:rPr lang="en-US" sz="1600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WHERE</a:t>
            </a:r>
            <a:endParaRPr sz="16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434343"/>
              </a:buClr>
              <a:buSzPts val="1200"/>
            </a:pPr>
            <a:r>
              <a:rPr lang="en-US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_TABLE_SUFFIX BETWEEN '20180423’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434343"/>
              </a:buClr>
              <a:buSzPts val="1200"/>
            </a:pPr>
            <a:r>
              <a:rPr lang="en-US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AND '20180429'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FF"/>
              </a:buClr>
              <a:buSzPts val="1200"/>
            </a:pPr>
            <a:r>
              <a:rPr lang="en-US" sz="1600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GROUP BY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434343"/>
              </a:buClr>
              <a:buSzPts val="1200"/>
            </a:pPr>
            <a:r>
              <a:rPr lang="en-US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browsers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FF"/>
              </a:buClr>
              <a:buSzPts val="1200"/>
            </a:pPr>
            <a:r>
              <a:rPr lang="en-US" sz="1600" b="1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ORDER BY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434343"/>
              </a:buClr>
              <a:buSzPts val="1200"/>
            </a:pPr>
            <a:r>
              <a:rPr lang="en-US" sz="16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pageviews DESC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6"/>
          <p:cNvSpPr txBox="1">
            <a:spLocks noGrp="1"/>
          </p:cNvSpPr>
          <p:nvPr>
            <p:ph type="title"/>
          </p:nvPr>
        </p:nvSpPr>
        <p:spPr>
          <a:xfrm>
            <a:off x="896000" y="609600"/>
            <a:ext cx="10305600" cy="44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7700" tIns="117700" rIns="117700" bIns="117700" rtlCol="0" anchor="ctr" anchorCtr="0">
            <a:noAutofit/>
          </a:bodyPr>
          <a:lstStyle/>
          <a:p>
            <a:r>
              <a:rPr lang="en-US" b="1" sz="2600">
                <a:solidFill>
                  <a:srgbClr val="1A283A"/>
                </a:solidFill>
                <a:latin typeface="Aptos Display"/>
              </a:rPr>
              <a:t>마케터의 BigQuery 활용 제고를 위한 EasyQuery 활용</a:t>
            </a:r>
            <a:endParaRPr sz="1867"/>
          </a:p>
        </p:txBody>
      </p:sp>
      <p:sp>
        <p:nvSpPr>
          <p:cNvPr id="545" name="Google Shape;545;p66"/>
          <p:cNvSpPr txBox="1"/>
          <p:nvPr/>
        </p:nvSpPr>
        <p:spPr>
          <a:xfrm>
            <a:off x="690329" y="1236463"/>
            <a:ext cx="114276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700" tIns="58833" rIns="117700" bIns="58833" anchor="t" anchorCtr="0">
            <a:noAutofit/>
          </a:bodyPr>
          <a:lstStyle/>
          <a:p>
            <a:pPr marL="372524" indent="-372524">
              <a:lnSpc>
                <a:spcPct val="150000"/>
              </a:lnSpc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 Query를 통해 데이터 항목만 입력해 주면 자동으로 SQL을 완성 및 데이터를 얻을 수 있는 솔루션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ts val="1200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→ SQL 비 전문자의 빅쿼리 활용성 확대 및 데이터 확보를 위한 신속성과 효율성 증대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66"/>
          <p:cNvSpPr/>
          <p:nvPr/>
        </p:nvSpPr>
        <p:spPr>
          <a:xfrm>
            <a:off x="5981875" y="3662413"/>
            <a:ext cx="520000" cy="1423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2A5E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7" name="Google Shape;547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594" y="2883165"/>
            <a:ext cx="5771863" cy="31519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48" name="Google Shape;548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05912" y="2883163"/>
            <a:ext cx="5312193" cy="31519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7"/>
          <p:cNvSpPr txBox="1">
            <a:spLocks noGrp="1"/>
          </p:cNvSpPr>
          <p:nvPr>
            <p:ph type="title"/>
          </p:nvPr>
        </p:nvSpPr>
        <p:spPr>
          <a:xfrm>
            <a:off x="896000" y="609600"/>
            <a:ext cx="10305600" cy="44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7700" tIns="117700" rIns="117700" bIns="117700" rtlCol="0" anchor="ctr" anchorCtr="0">
            <a:noAutofit/>
          </a:bodyPr>
          <a:lstStyle/>
          <a:p>
            <a:r>
              <a:rPr lang="en-US" b="1" sz="2600">
                <a:solidFill>
                  <a:srgbClr val="1A283A"/>
                </a:solidFill>
                <a:latin typeface="Aptos Display"/>
              </a:rPr>
              <a:t>데이터리셔스 EasyQuery 활용</a:t>
            </a:r>
            <a:endParaRPr sz="1867"/>
          </a:p>
        </p:txBody>
      </p:sp>
      <p:sp>
        <p:nvSpPr>
          <p:cNvPr id="554" name="Google Shape;554;p67"/>
          <p:cNvSpPr txBox="1"/>
          <p:nvPr/>
        </p:nvSpPr>
        <p:spPr>
          <a:xfrm>
            <a:off x="690329" y="1236463"/>
            <a:ext cx="101164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700" tIns="58833" rIns="117700" bIns="58833" anchor="t" anchorCtr="0">
            <a:noAutofit/>
          </a:bodyPr>
          <a:lstStyle/>
          <a:p>
            <a:pPr marL="372524" indent="-372524"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필드와 값 입력 → 필터 설정 → Test 및 쿼리 실행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5" name="Google Shape;555;p67"/>
          <p:cNvGrpSpPr/>
          <p:nvPr/>
        </p:nvGrpSpPr>
        <p:grpSpPr>
          <a:xfrm>
            <a:off x="488494" y="1957066"/>
            <a:ext cx="4951609" cy="3270609"/>
            <a:chOff x="564418" y="2023858"/>
            <a:chExt cx="6591600" cy="2451241"/>
          </a:xfrm>
        </p:grpSpPr>
        <p:pic>
          <p:nvPicPr>
            <p:cNvPr id="556" name="Google Shape;556;p6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64418" y="2023858"/>
              <a:ext cx="6591600" cy="2451241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557" name="Google Shape;557;p6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870305" y="3128164"/>
              <a:ext cx="2067455" cy="115739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58" name="Google Shape;558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26729" y="1957263"/>
            <a:ext cx="5216139" cy="195272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559" name="Google Shape;559;p67"/>
          <p:cNvGrpSpPr/>
          <p:nvPr/>
        </p:nvGrpSpPr>
        <p:grpSpPr>
          <a:xfrm>
            <a:off x="5826729" y="4084116"/>
            <a:ext cx="5216155" cy="2200459"/>
            <a:chOff x="195825" y="1852739"/>
            <a:chExt cx="6591602" cy="2931339"/>
          </a:xfrm>
        </p:grpSpPr>
        <p:pic>
          <p:nvPicPr>
            <p:cNvPr id="560" name="Google Shape;560;p6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5825" y="1852739"/>
              <a:ext cx="6591602" cy="2931339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561" name="Google Shape;561;p67"/>
            <p:cNvSpPr/>
            <p:nvPr/>
          </p:nvSpPr>
          <p:spPr>
            <a:xfrm>
              <a:off x="3040381" y="3665220"/>
              <a:ext cx="373500" cy="152400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1867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62" name="Google Shape;562;p67"/>
          <p:cNvCxnSpPr/>
          <p:nvPr/>
        </p:nvCxnSpPr>
        <p:spPr>
          <a:xfrm>
            <a:off x="4987636" y="2773933"/>
            <a:ext cx="766800" cy="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63" name="Google Shape;563;p67"/>
          <p:cNvCxnSpPr/>
          <p:nvPr/>
        </p:nvCxnSpPr>
        <p:spPr>
          <a:xfrm>
            <a:off x="8428597" y="3768949"/>
            <a:ext cx="0" cy="461200"/>
          </a:xfrm>
          <a:prstGeom prst="straightConnector1">
            <a:avLst/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64" name="Google Shape;564;p67"/>
          <p:cNvSpPr txBox="1"/>
          <p:nvPr/>
        </p:nvSpPr>
        <p:spPr>
          <a:xfrm>
            <a:off x="1534667" y="1907867"/>
            <a:ext cx="3117200" cy="2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FF0000"/>
              </a:buClr>
              <a:buSzPts val="900"/>
            </a:pPr>
            <a:r>
              <a:rPr lang="en-US" sz="12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대상 필드 선택 및 구문 선택 </a:t>
            </a:r>
            <a:endParaRPr sz="12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67"/>
          <p:cNvSpPr txBox="1"/>
          <p:nvPr/>
        </p:nvSpPr>
        <p:spPr>
          <a:xfrm>
            <a:off x="7243467" y="1907867"/>
            <a:ext cx="3117200" cy="2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FF0000"/>
              </a:buClr>
              <a:buSzPts val="900"/>
            </a:pPr>
            <a:r>
              <a:rPr lang="en-US" sz="12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세부 조건 입력</a:t>
            </a:r>
            <a:endParaRPr sz="12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67"/>
          <p:cNvSpPr txBox="1"/>
          <p:nvPr/>
        </p:nvSpPr>
        <p:spPr>
          <a:xfrm>
            <a:off x="6385533" y="3995433"/>
            <a:ext cx="3117200" cy="2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FF0000"/>
              </a:buClr>
              <a:buSzPts val="900"/>
            </a:pPr>
            <a:r>
              <a:rPr lang="en-US" sz="12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최종 검토 및 쿼리 실행</a:t>
            </a:r>
            <a:endParaRPr sz="1200" b="1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8"/>
          <p:cNvSpPr txBox="1">
            <a:spLocks noGrp="1"/>
          </p:cNvSpPr>
          <p:nvPr>
            <p:ph type="title"/>
          </p:nvPr>
        </p:nvSpPr>
        <p:spPr>
          <a:xfrm>
            <a:off x="896000" y="609600"/>
            <a:ext cx="10305600" cy="44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7700" tIns="117700" rIns="117700" bIns="117700" rtlCol="0" anchor="ctr" anchorCtr="0">
            <a:noAutofit/>
          </a:bodyPr>
          <a:lstStyle/>
          <a:p>
            <a:r>
              <a:rPr lang="en-US" b="1" sz="2600">
                <a:solidFill>
                  <a:srgbClr val="1A283A"/>
                </a:solidFill>
                <a:latin typeface="Aptos Display"/>
              </a:rPr>
              <a:t>데이터리셔스 EasyQuery 활용</a:t>
            </a:r>
            <a:endParaRPr sz="1867"/>
          </a:p>
        </p:txBody>
      </p:sp>
      <p:sp>
        <p:nvSpPr>
          <p:cNvPr id="572" name="Google Shape;572;p68"/>
          <p:cNvSpPr txBox="1"/>
          <p:nvPr/>
        </p:nvSpPr>
        <p:spPr>
          <a:xfrm>
            <a:off x="690329" y="1236463"/>
            <a:ext cx="4362800" cy="3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700" tIns="58833" rIns="117700" bIns="58833" anchor="t" anchorCtr="0">
            <a:noAutofit/>
          </a:bodyPr>
          <a:lstStyle/>
          <a:p>
            <a:pPr marL="372524" indent="-372524"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다운로드 및 자료(엑셀) 확인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3" name="Google Shape;573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245" y="2061692"/>
            <a:ext cx="5349659" cy="27751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74" name="Google Shape;574;p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70499" y="2523593"/>
            <a:ext cx="4614885" cy="277512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75" name="Google Shape;575;p6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84652" y="3911153"/>
            <a:ext cx="4706984" cy="268701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9"/>
          <p:cNvSpPr/>
          <p:nvPr/>
        </p:nvSpPr>
        <p:spPr>
          <a:xfrm>
            <a:off x="7565000" y="3225533"/>
            <a:ext cx="2271200" cy="15024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69"/>
          <p:cNvSpPr/>
          <p:nvPr/>
        </p:nvSpPr>
        <p:spPr>
          <a:xfrm>
            <a:off x="792800" y="4568867"/>
            <a:ext cx="5116800" cy="196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69"/>
          <p:cNvSpPr txBox="1">
            <a:spLocks noGrp="1"/>
          </p:cNvSpPr>
          <p:nvPr>
            <p:ph type="title"/>
          </p:nvPr>
        </p:nvSpPr>
        <p:spPr>
          <a:xfrm>
            <a:off x="896000" y="609600"/>
            <a:ext cx="10305600" cy="441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17700" tIns="117700" rIns="117700" bIns="117700" rtlCol="0" anchor="ctr" anchorCtr="0">
            <a:noAutofit/>
          </a:bodyPr>
          <a:lstStyle/>
          <a:p>
            <a:r>
              <a:rPr lang="en-US" b="1" sz="2600">
                <a:solidFill>
                  <a:srgbClr val="1A283A"/>
                </a:solidFill>
                <a:latin typeface="Aptos Display"/>
              </a:rPr>
              <a:t>On/Offline 데이터 결합을 통한 마케팅 자동화 구현 예시</a:t>
            </a:r>
            <a:endParaRPr sz="1867"/>
          </a:p>
        </p:txBody>
      </p:sp>
      <p:pic>
        <p:nvPicPr>
          <p:cNvPr id="583" name="Google Shape;583;p69"/>
          <p:cNvPicPr preferRelativeResize="0"/>
          <p:nvPr/>
        </p:nvPicPr>
        <p:blipFill rotWithShape="1">
          <a:blip r:embed="rId3">
            <a:alphaModFix/>
          </a:blip>
          <a:srcRect l="22421" t="25218" r="24395" b="22088"/>
          <a:stretch/>
        </p:blipFill>
        <p:spPr>
          <a:xfrm>
            <a:off x="4171384" y="4829547"/>
            <a:ext cx="1016633" cy="1007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29734" y="5233273"/>
            <a:ext cx="959833" cy="85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6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8301" y="2618417"/>
            <a:ext cx="1054167" cy="1063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6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81301" y="2516811"/>
            <a:ext cx="1266967" cy="1266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7" name="Google Shape;587;p69"/>
          <p:cNvCxnSpPr/>
          <p:nvPr/>
        </p:nvCxnSpPr>
        <p:spPr>
          <a:xfrm>
            <a:off x="2038533" y="3150265"/>
            <a:ext cx="1048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88" name="Google Shape;588;p69"/>
          <p:cNvCxnSpPr/>
          <p:nvPr/>
        </p:nvCxnSpPr>
        <p:spPr>
          <a:xfrm>
            <a:off x="4930467" y="3996484"/>
            <a:ext cx="0" cy="73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589" name="Google Shape;589;p6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6700" y="5065867"/>
            <a:ext cx="770933" cy="77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0" name="Google Shape;590;p69"/>
          <p:cNvCxnSpPr/>
          <p:nvPr/>
        </p:nvCxnSpPr>
        <p:spPr>
          <a:xfrm rot="10800000" flipH="1">
            <a:off x="1670300" y="3669100"/>
            <a:ext cx="1340800" cy="1235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1" name="Google Shape;591;p69"/>
          <p:cNvSpPr txBox="1"/>
          <p:nvPr/>
        </p:nvSpPr>
        <p:spPr>
          <a:xfrm>
            <a:off x="705584" y="5862333"/>
            <a:ext cx="15732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SzPts val="900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CRM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69"/>
          <p:cNvSpPr txBox="1"/>
          <p:nvPr/>
        </p:nvSpPr>
        <p:spPr>
          <a:xfrm>
            <a:off x="4248267" y="2399051"/>
            <a:ext cx="1364400" cy="15024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성별: 여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나이: 30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등급: 우수회원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자녀유무 : 관련 상품 구매이력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3" name="Google Shape;593;p6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flipH="1">
            <a:off x="5230871" y="2104807"/>
            <a:ext cx="678715" cy="6786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4" name="Google Shape;594;p69"/>
          <p:cNvCxnSpPr/>
          <p:nvPr/>
        </p:nvCxnSpPr>
        <p:spPr>
          <a:xfrm>
            <a:off x="2013784" y="5389533"/>
            <a:ext cx="610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595" name="Google Shape;595;p6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733390" y="5065867"/>
            <a:ext cx="770933" cy="77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6" name="Google Shape;596;p69"/>
          <p:cNvCxnSpPr/>
          <p:nvPr/>
        </p:nvCxnSpPr>
        <p:spPr>
          <a:xfrm>
            <a:off x="3532851" y="5389533"/>
            <a:ext cx="610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7" name="Google Shape;597;p69"/>
          <p:cNvSpPr txBox="1"/>
          <p:nvPr/>
        </p:nvSpPr>
        <p:spPr>
          <a:xfrm>
            <a:off x="792800" y="6084367"/>
            <a:ext cx="3350000" cy="4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FF0000"/>
              </a:buClr>
              <a:buSzPts val="1000"/>
            </a:pPr>
            <a:r>
              <a:rPr lang="en-US" sz="1333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 import를 통한 CRM데이터 적재</a:t>
            </a:r>
            <a:endParaRPr sz="1333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69"/>
          <p:cNvSpPr/>
          <p:nvPr/>
        </p:nvSpPr>
        <p:spPr>
          <a:xfrm>
            <a:off x="7089100" y="5210467"/>
            <a:ext cx="2102000" cy="678800"/>
          </a:xfrm>
          <a:prstGeom prst="roundRect">
            <a:avLst>
              <a:gd name="adj" fmla="val 16667"/>
            </a:avLst>
          </a:prstGeom>
          <a:solidFill>
            <a:srgbClr val="66666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rgbClr val="FF0000"/>
              </a:buClr>
              <a:buSzPts val="1400"/>
            </a:pPr>
            <a:r>
              <a:rPr lang="en-US" sz="1867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EASY</a:t>
            </a:r>
            <a:r>
              <a:rPr lang="en-US" sz="1867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endParaRPr sz="1867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69"/>
          <p:cNvCxnSpPr/>
          <p:nvPr/>
        </p:nvCxnSpPr>
        <p:spPr>
          <a:xfrm>
            <a:off x="5953800" y="5545467"/>
            <a:ext cx="1010400" cy="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0" name="Google Shape;600;p69"/>
          <p:cNvSpPr txBox="1"/>
          <p:nvPr/>
        </p:nvSpPr>
        <p:spPr>
          <a:xfrm>
            <a:off x="5672384" y="5154333"/>
            <a:ext cx="15732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SzPts val="900"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CID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1" name="Google Shape;601;p6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37729" y="3778711"/>
            <a:ext cx="610000" cy="609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6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308767" y="3391588"/>
            <a:ext cx="1048800" cy="484197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69"/>
          <p:cNvSpPr txBox="1"/>
          <p:nvPr/>
        </p:nvSpPr>
        <p:spPr>
          <a:xfrm>
            <a:off x="8493900" y="4070251"/>
            <a:ext cx="8132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ETC.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4" name="Google Shape;604;p6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979033" y="1586000"/>
            <a:ext cx="851099" cy="85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6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642134" y="1219202"/>
            <a:ext cx="770933" cy="77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6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36200" y="1660401"/>
            <a:ext cx="851099" cy="8510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7" name="Google Shape;607;p69"/>
          <p:cNvCxnSpPr/>
          <p:nvPr/>
        </p:nvCxnSpPr>
        <p:spPr>
          <a:xfrm rot="10800000">
            <a:off x="8493900" y="4790600"/>
            <a:ext cx="0" cy="35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8" name="Google Shape;608;p69"/>
          <p:cNvCxnSpPr/>
          <p:nvPr/>
        </p:nvCxnSpPr>
        <p:spPr>
          <a:xfrm rot="10800000">
            <a:off x="7644500" y="2288867"/>
            <a:ext cx="362400" cy="77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09" name="Google Shape;609;p69"/>
          <p:cNvCxnSpPr/>
          <p:nvPr/>
        </p:nvCxnSpPr>
        <p:spPr>
          <a:xfrm rot="10800000" flipH="1">
            <a:off x="8687400" y="2138300"/>
            <a:ext cx="176800" cy="89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10" name="Google Shape;610;p69"/>
          <p:cNvCxnSpPr/>
          <p:nvPr/>
        </p:nvCxnSpPr>
        <p:spPr>
          <a:xfrm rot="10800000" flipH="1">
            <a:off x="9544633" y="2527333"/>
            <a:ext cx="380000" cy="5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97280"/>
            <a:ext cx="10607040" cy="32004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lnSpcReduction="10000"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New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424160" cy="11430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lnSpcReduction="10000"/>
          </a:bodyPr>
          <a:lstStyle/>
          <a:p>
            <a:r>
              <a:rPr sz="3400" b="1">
                <a:solidFill>
                  <a:srgbClr val="FFFFFF"/>
                </a:solidFill>
                <a:latin typeface="나눔고딕"/>
                <a:ea typeface="나눔고딕"/>
              </a:rPr>
              <a:t>Section 5. 변수 설계 — 모델은 변수를 통해 세상을 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4114800" cy="2286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85000" lnSpcReduction="20000"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OCEO · Internal Analyst Training</a:t>
            </a:r>
          </a:p>
        </p:txBody>
      </p:sp>
    </p:spTree>
    <p:extLst>
      <p:ext uri="{BB962C8B-B14F-4D97-AF65-F5344CB8AC3E}">
        <p14:creationId xmlns:p14="http://schemas.microsoft.com/office/powerpoint/2010/main" val="5524119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왜 변수 설계가 중요한가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모델은 비즈니스 맥락을 스스로 이해하지 못합니다.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모델이 실제로 보는 것은 feature table의 변수뿐입니다.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좋은 질문 → 좋은 변수 → 해석 가능한 예측 순서가 중요합니다.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성능을 보장하는 마법 공식이 아니라, 행동 신호를 잘 번역하는 설계 과정입니다.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715000"/>
            <a:ext cx="10149840" cy="438912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600" b="1">
                <a:solidFill>
                  <a:srgbClr val="212529"/>
                </a:solidFill>
                <a:latin typeface="Calibri"/>
              </a:rPr>
              <a:t>모델 성능은 알고리즘보다 변수가 먼저 결정합니다.</a:t>
            </a:r>
          </a:p>
        </p:txBody>
      </p:sp>
    </p:spTree>
    <p:extLst>
      <p:ext uri="{BB962C8B-B14F-4D97-AF65-F5344CB8AC3E}">
        <p14:creationId xmlns:p14="http://schemas.microsoft.com/office/powerpoint/2010/main" val="2918082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변수 유형을 먼저 구분합니다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49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유형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예시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강의 포인트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범주형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device_type, traffic_source, membership_type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그룹 차이를 표현합니다. category가 너무 많으면 상위값/기타 처리가 필요합니다.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이진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is_payer, is_inactive_14d, completed_tutorial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0/1이라 해석이 쉽고 액션과 연결하기 좋습니다.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순서형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level_tier, engagement_stage, risk_band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순서는 있지만 1/2/3 간격이 같다는 뜻은 아닙니다.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연속형 숫자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total_playtime_minutes, login_count_7d, days_since_last_login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값 그대로도 쓰지만 구간/threshold/ratio로 행동 의미를 보강합니다.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파생 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avg_playtime_per_login, playtime_segment, playtime_drop_rate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Calibri"/>
                        </a:rPr>
                        <a:t>데이터를 모델의 언어로 번역합니다.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1795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연속형 숫자 변수: 그대로 쓸까, 나눌까?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2185416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Raw numeric: total_playtime_minutes, login_count_7d처럼 정보 손실 없이 행동량을 넣습니다.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2185416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Binning: no_play / light / medium / heavy처럼 행동 강도 구간으로 바꿉니다.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75304"/>
            <a:ext cx="5202936" cy="2185416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Threshold flag: days_since_last_login &gt;= 14, purchase_count_30d &gt;= 3처럼 후보 신호를 만듭니다.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575304"/>
            <a:ext cx="5202936" cy="2185416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핵심: 숫자는 값이면서 동시에 행동 신호입니다.</a:t>
            </a:r>
          </a:p>
        </p:txBody>
      </p:sp>
    </p:spTree>
    <p:extLst>
      <p:ext uri="{BB962C8B-B14F-4D97-AF65-F5344CB8AC3E}">
        <p14:creationId xmlns:p14="http://schemas.microsoft.com/office/powerpoint/2010/main" val="1910992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Threshold는 자동 배제 규칙이 아닙니다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Threshold는 분석·실험·우선순위 판단을 돕는 설명 가능한 후보 신호입니다.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days_since_last_login &gt;= 14 → 재방문 유도 실험 후보 신호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purchase_count_30d &gt;= 3 → 반복 구매 행동 신호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total_playtime_minutes &gt;= 60 → 일정 수준 이상 몰입 경험 신호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support_ticket_count &gt;= 2 → 추가 케어/지원 우선순위 신호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4355592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실제 기준값은 분포, 성과, 현업 맥락으로 검증해야 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15000"/>
            <a:ext cx="10149840" cy="438912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600" b="1">
                <a:solidFill>
                  <a:srgbClr val="212529"/>
                </a:solidFill>
                <a:latin typeface="Calibri"/>
              </a:rPr>
              <a:t>자동 조치·제외·차단 기준이 아니라 검토·실험·우선순위 후보 신호입니다.</a:t>
            </a:r>
          </a:p>
        </p:txBody>
      </p:sp>
    </p:spTree>
    <p:extLst>
      <p:ext uri="{BB962C8B-B14F-4D97-AF65-F5344CB8AC3E}">
        <p14:creationId xmlns:p14="http://schemas.microsoft.com/office/powerpoint/2010/main" val="36238100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비선형 신호를 포착합니다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고객 행동은 항상 직선적으로 증가하지 않습니다.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login_count 0→3회 증가는 큰 행동 변화일 수 있지만, 20→23회 증가는 추가 의미가 작을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raw numeric만으로는 구간별 행동 의미 차이가 약하게 표현될 수 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bucket / threshold / ratio는 행동 단계가 바뀌는 지점을 모델이 볼 수 있게 돕습니다.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단, 구간이 너무 많으면 해석 혼란과 과적합 위험이 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715000"/>
            <a:ext cx="10149840" cy="438912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600" b="1">
                <a:solidFill>
                  <a:srgbClr val="212529"/>
                </a:solidFill>
                <a:latin typeface="Calibri"/>
              </a:rPr>
              <a:t>숫자의 크기뿐 아니라, 행동 단계가 바뀌는 지점을 모델이 볼 수 있게 만드는 것이 변수 설계입니다.</a:t>
            </a:r>
          </a:p>
        </p:txBody>
      </p:sp>
    </p:spTree>
    <p:extLst>
      <p:ext uri="{BB962C8B-B14F-4D97-AF65-F5344CB8AC3E}">
        <p14:creationId xmlns:p14="http://schemas.microsoft.com/office/powerpoint/2010/main" val="38581968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BQML Game/Churn Feature Table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41605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pPr algn="ctr"/>
            <a:r>
              <a:rPr sz="2100" b="1">
                <a:solidFill>
                  <a:srgbClr val="0B2D5B"/>
                </a:solidFill>
                <a:latin typeface="Calibri"/>
              </a:rPr>
              <a:t>읽는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8758"/>
            <a:ext cx="3703320" cy="388340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• feature table은 모델이 읽는 행동 신호 사전입니다.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• raw numeric, ratio, threshold flag, bucket을 함께 설계합니다.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• threshold_flag는 자동 조치가 아니라 검토·실험 후보 신호입니다.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Calibri"/>
              </a:defRPr>
            </a:pPr>
            <a:r>
              <a:rPr>
                <a:latin typeface="NanumGothic" panose="020D0604000000000000" pitchFamily="34" charset="-127"/>
                <a:ea typeface="NanumGothic" panose="020D0604000000000000" pitchFamily="34" charset="-127"/>
              </a:rPr>
              <a:t>• label인 churned와 feature의 시간 순서가 섞이지 않도록 주의합니다.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207008"/>
            <a:ext cx="6355080" cy="4892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>
            <a:normAutofit/>
          </a:bodyPr>
          <a:lstStyle/>
          <a:p>
            <a:r>
              <a:rPr sz="1200" b="0">
                <a:solidFill>
                  <a:srgbClr val="E5E7EB"/>
                </a:solidFill>
                <a:latin typeface="Calibri"/>
              </a:rPr>
              <a:t>SELECT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user_id,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total_playtime_minutes,         -- raw numeric: 행동량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login_count_7d,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purchase_count_30d,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days_since_last_login,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SAFE_DIVIDE(total_playtime_minutes, NULLIF(login_count_7d, 0))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  AS avg_playtime_per_login,     -- ratio: 로그인 1회당 평균 플레이 시간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IF(days_since_last_login &gt;= 14, 1, 0)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  AS is_inactive_14d,            -- 검토·실험 후보 신호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IF(purchase_count_30d &gt;= 3, 1, 0)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  AS is_repeat_purchaser,        -- 반복 구매 행동 신호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CASE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  WHEN total_playtime_minutes = 0 THEN 'no_play'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  WHEN total_playtime_minutes &lt; 60 THEN 'light'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  WHEN total_playtime_minutes &lt; 300 THEN 'medium'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  ELSE 'heavy'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END AS playtime_segment,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  churned</a:t>
            </a:r>
            <a:br>
              <a:rPr sz="3600"/>
            </a:br>
            <a:r>
              <a:rPr sz="1200" b="0">
                <a:solidFill>
                  <a:srgbClr val="E5E7EB"/>
                </a:solidFill>
                <a:latin typeface="Calibri"/>
              </a:rPr>
              <a:t>FROM sample_game_user_features;</a:t>
            </a:r>
          </a:p>
        </p:txBody>
      </p:sp>
    </p:spTree>
    <p:extLst>
      <p:ext uri="{BB962C8B-B14F-4D97-AF65-F5344CB8AC3E}">
        <p14:creationId xmlns:p14="http://schemas.microsoft.com/office/powerpoint/2010/main" val="28582976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변수 설계를 액션으로 연결합니다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416149"/>
              </p:ext>
            </p:extLst>
          </p:nvPr>
        </p:nvGraphicFramePr>
        <p:xfrm>
          <a:off x="594360" y="1143000"/>
          <a:ext cx="11018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Feature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모델이 읽는 신호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액션 연결</a:t>
                      </a:r>
                    </a:p>
                  </a:txBody>
                  <a:tcPr>
                    <a:solidFill>
                      <a:srgbClr val="0B2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is_inactive_14d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14일 이상 미접속 후보 신호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재방문 유도 실험 후보군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is_repeat_purchaser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최근 30일 반복 구매 행동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멤버십/번들 오퍼 실험 후보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playtime_segment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플레이 강도 구간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온보딩/몰입도별 메시지 차등 설계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avg_playtime_per_login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로그인 1회당 몰입도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짧은 방문/깊은 사용 패턴 구분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5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support_ticket_count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지원 접점 증가 신호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529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추가 케어/지원 우선순위 판단 보조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2692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Worksheet 4 — Feature Table 설계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10561320" cy="48006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b="0">
                <a:solidFill>
                  <a:srgbClr val="212529"/>
                </a:solidFill>
                <a:latin typeface="Calibri"/>
              </a:rPr>
              <a:t>• Part 1. 변수 유형 분류: device_type, login_count_7d, total_playtime_minutes, purchase_count_30d, days_since_last_login, completed_tutorial, churned를 분류합니다.</a:t>
            </a:r>
            <a:br>
              <a:rPr sz="2000"/>
            </a:br>
            <a:r>
              <a:rPr b="0">
                <a:solidFill>
                  <a:srgbClr val="212529"/>
                </a:solidFill>
                <a:latin typeface="Calibri"/>
              </a:rPr>
              <a:t>• 분류 기준: 범주형 / 이진 / 순서형 / 연속형 / 파생 가능 / 타깃</a:t>
            </a:r>
            <a:br>
              <a:rPr sz="2000"/>
            </a:br>
            <a:r>
              <a:rPr b="0">
                <a:solidFill>
                  <a:srgbClr val="212529"/>
                </a:solidFill>
                <a:latin typeface="Calibri"/>
              </a:rPr>
              <a:t>• Part 2. churn 예측용 feature 10개를 설계합니다.</a:t>
            </a:r>
            <a:br>
              <a:rPr sz="2000"/>
            </a:br>
            <a:r>
              <a:rPr b="0">
                <a:solidFill>
                  <a:srgbClr val="212529"/>
                </a:solidFill>
                <a:latin typeface="Calibri"/>
              </a:rPr>
              <a:t>• 작성 항목: 변수명 / 변수 유형 / 계산 방식 / 예측에 도움 되는 이유</a:t>
            </a:r>
            <a:br>
              <a:rPr sz="2000"/>
            </a:br>
            <a:r>
              <a:rPr b="0">
                <a:solidFill>
                  <a:srgbClr val="212529"/>
                </a:solidFill>
                <a:latin typeface="Calibri"/>
              </a:rPr>
              <a:t>• 표현 방식 선택: raw numeric / bucket / threshold flag / ratio 중 무엇으로 표현할지 적습니다.</a:t>
            </a:r>
            <a:br>
              <a:rPr sz="2000"/>
            </a:br>
            <a:r>
              <a:rPr b="0">
                <a:solidFill>
                  <a:srgbClr val="212529"/>
                </a:solidFill>
                <a:latin typeface="Calibri"/>
              </a:rPr>
              <a:t>• 가능한 실험·리텐션·지원 액션 후보를 함께 적습니다.</a:t>
            </a:r>
            <a:br>
              <a:rPr sz="2000"/>
            </a:br>
            <a:r>
              <a:rPr b="0">
                <a:solidFill>
                  <a:srgbClr val="212529"/>
                </a:solidFill>
                <a:latin typeface="Calibri"/>
              </a:rPr>
              <a:t>• leakage 위험 여부: 예측 시점에 알 수 없는 정보나 타깃 이후 정보가 섞였는지 확인합니다.</a:t>
            </a:r>
            <a:br>
              <a:rPr sz="2000"/>
            </a:br>
            <a:r>
              <a:rPr b="0">
                <a:solidFill>
                  <a:srgbClr val="212529"/>
                </a:solidFill>
                <a:latin typeface="Calibri"/>
              </a:rPr>
              <a:t>• 각 threshold가 자동 조치 기준이 아니라 어떤 검토·실험·우선순위 후보 신호인지 적습니다.</a:t>
            </a:r>
            <a:br>
              <a:rPr sz="2000"/>
            </a:br>
            <a:r>
              <a:rPr b="0">
                <a:solidFill>
                  <a:srgbClr val="212529"/>
                </a:solidFill>
                <a:latin typeface="Calibri"/>
              </a:rPr>
              <a:t>• feature table에서 제외해야 할 민감속성/직접 식별자/누수 변수를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41408981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Section 5 핵심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모델은 변수로 세상을 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연속형 숫자는 raw / bucket / threshold / ratio로 설계할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threshold는 자동 배제 기준이 아니라 설명 가능한 후보 신호입니다.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파생 변수는 데이터를 모델의 언어로 번역하는 작업입니다.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예측 모델링의 출발점은 알고리즘 선택이 아니라 feature table 설계입니다.</a:t>
            </a:r>
          </a:p>
        </p:txBody>
      </p:sp>
    </p:spTree>
    <p:extLst>
      <p:ext uri="{BB962C8B-B14F-4D97-AF65-F5344CB8AC3E}">
        <p14:creationId xmlns:p14="http://schemas.microsoft.com/office/powerpoint/2010/main" val="488479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9966960" cy="6583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/>
          </a:bodyPr>
          <a:lstStyle/>
          <a:p>
            <a:r>
              <a:rPr sz="2600" b="1">
                <a:solidFill>
                  <a:srgbClr val="1A283A"/>
                </a:solidFill>
                <a:latin typeface="Aptos Display"/>
                <a:ea typeface="나눔고딕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46520"/>
            <a:ext cx="484632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7500" lnSpcReduction="20000"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46520"/>
            <a:ext cx="822960" cy="20116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normAutofit fontScale="70000" lnSpcReduction="20000"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오늘의 한 줄: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234440"/>
            <a:ext cx="5202936" cy="1405128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&gt; BQML은 분석가가 SQL로 예측 질문을 실험하고, 결과를 액션 우선순위로 바꾸는 도구다.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95016"/>
            <a:ext cx="5202936" cy="1405128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Next: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795016"/>
            <a:ext cx="5202936" cy="1405128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BigQuery Console에서 demo dataset/model/result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55592"/>
            <a:ext cx="5202936" cy="1405128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>
            <a:normAutofit/>
          </a:bodyPr>
          <a:lstStyle/>
          <a:p>
            <a:pPr algn="ctr"/>
            <a:r>
              <a:rPr sz="1800" b="0">
                <a:solidFill>
                  <a:srgbClr val="212529"/>
                </a:solidFill>
                <a:latin typeface="Calibri"/>
              </a:rPr>
              <a:t>worksheet로 직접 query 흐름 따라가기</a:t>
            </a:r>
          </a:p>
        </p:txBody>
      </p:sp>
    </p:spTree>
    <p:extLst>
      <p:ext uri="{BB962C8B-B14F-4D97-AF65-F5344CB8AC3E}">
        <p14:creationId xmlns:p14="http://schemas.microsoft.com/office/powerpoint/2010/main" val="12296922"/>
      </p:ext>
    </p:extLst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1E58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19200" y="1234440"/>
            <a:ext cx="9753600" cy="3977639"/>
          </a:xfrm>
          <a:prstGeom prst="roundRect">
            <a:avLst/>
          </a:prstGeom>
          <a:solidFill>
            <a:srgbClr val="F2F7FC"/>
          </a:solidFill>
          <a:ln w="12700"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06880" y="1851660"/>
            <a:ext cx="877824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283A"/>
                </a:solidFill>
                <a:latin typeface="Aptos Display"/>
              </a:rPr>
              <a:t>End Of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0720" y="2948940"/>
            <a:ext cx="829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58B2"/>
                </a:solidFill>
                <a:latin typeface="Malgun Gothic"/>
              </a:rPr>
              <a:t>좋은 분석은 모델을 만드는 데서 끝나지 않고, 다음 행동을 바꾸는 순간 완성됩니다.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183380"/>
            <a:ext cx="7802880" cy="4800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98E9B"/>
                </a:solidFill>
                <a:latin typeface="Aptos"/>
              </a:rPr>
              <a:t>Data → Insight →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832" y="6446520"/>
            <a:ext cx="487680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37C87"/>
                </a:solidFill>
                <a:latin typeface="Aptos"/>
              </a:rPr>
              <a:t>BQML Internal Analyst Training · v11 final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960" y="6446520"/>
            <a:ext cx="731520" cy="2400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37C87"/>
                </a:solidFill>
                <a:latin typeface="Aptos"/>
              </a:rPr>
              <a:t>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79241189015]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나눔고딕"/>
        <a:ea typeface="나눔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libri"/>
        <a:font script="Hebr" typeface="Calibr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1EA9AE6-0D94-1A4A-A380-AA528256305D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e2950e62-6a02-4710-916f-9ead7f9e9b6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3499</Words>
  <Application>Microsoft Macintosh PowerPoint</Application>
  <PresentationFormat>와이드스크린</PresentationFormat>
  <Paragraphs>476</Paragraphs>
  <Slides>57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7" baseType="lpstr">
      <vt:lpstr>BM DoHyeon OTF</vt:lpstr>
      <vt:lpstr>나눔고딕</vt:lpstr>
      <vt:lpstr>나눔고딕</vt:lpstr>
      <vt:lpstr>Aptos</vt:lpstr>
      <vt:lpstr>Arial</vt:lpstr>
      <vt:lpstr>Calibri</vt:lpstr>
      <vt:lpstr>Comfortaa</vt:lpstr>
      <vt:lpstr>Proxima Nova</vt:lpstr>
      <vt:lpstr>Roboto</vt:lpstr>
      <vt:lpstr>Office Theme [1779241189015]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Demo 3) BigQuery API 를 활용한 마케팅 자동화 데모</vt:lpstr>
      <vt:lpstr>BigQuery를 이용한 추천상품 생성</vt:lpstr>
      <vt:lpstr>BigQuery &amp; Spark를 이용한 추천상품 생성</vt:lpstr>
      <vt:lpstr>BigQuery &amp; Spark를 이용한 추천상품 생성</vt:lpstr>
      <vt:lpstr>BigQuery &amp; Spark를 이용한 추천상품 생성</vt:lpstr>
      <vt:lpstr>BigQuery &amp; Spark를 이용한 추천상품 생성</vt:lpstr>
      <vt:lpstr>BigQuery 를 이용한 카테고리별 Top 10 상품 추출</vt:lpstr>
      <vt:lpstr>BigQuery 를 이용한 카테고리별 Top 10 상품 추출</vt:lpstr>
      <vt:lpstr>참고. BigQuery 활용의 어려움 </vt:lpstr>
      <vt:lpstr>마케터의 BigQuery 활용 제고를 위한 EasyQuery 활용</vt:lpstr>
      <vt:lpstr>데이터리셔스 EasyQuery 활용</vt:lpstr>
      <vt:lpstr>데이터리셔스 EasyQuery 활용</vt:lpstr>
      <vt:lpstr>On/Offline 데이터 결합을 통한 마케팅 자동화 구현 예시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선영 김</cp:lastModifiedBy>
  <cp:revision>6</cp:revision>
  <dcterms:created xsi:type="dcterms:W3CDTF">2013-01-27T09:14:16Z</dcterms:created>
  <dcterms:modified xsi:type="dcterms:W3CDTF">2026-05-20T01:50:46Z</dcterms:modified>
  <cp:category/>
</cp:coreProperties>
</file>